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6" r:id="rId2"/>
    <p:sldId id="257" r:id="rId3"/>
    <p:sldId id="258" r:id="rId4"/>
    <p:sldId id="259" r:id="rId5"/>
    <p:sldId id="260" r:id="rId6"/>
    <p:sldId id="261" r:id="rId7"/>
    <p:sldId id="262" r:id="rId8"/>
    <p:sldId id="263" r:id="rId9"/>
    <p:sldId id="267" r:id="rId10"/>
    <p:sldId id="268" r:id="rId11"/>
    <p:sldId id="269" r:id="rId12"/>
    <p:sldId id="26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3A"/>
                </a:solidFill>
                <a:latin typeface="Arial"/>
              </a:defRPr>
            </a:pPr>
            <a:r>
              <a:rPr lang="en-IN" sz="1000" b="0" i="0" u="none" strike="noStrike">
                <a:solidFill>
                  <a:srgbClr val="0B1F3A"/>
                </a:solidFill>
                <a:latin typeface="Arial"/>
              </a:rPr>
              <a:t>Throughput and goodput</a:t>
            </a:r>
          </a:p>
        </c:rich>
      </c:tx>
      <c:overlay val="0"/>
    </c:title>
    <c:autoTitleDeleted val="0"/>
    <c:plotArea>
      <c:layout/>
      <c:barChart>
        <c:barDir val="col"/>
        <c:grouping val="clustered"/>
        <c:varyColors val="0"/>
        <c:ser>
          <c:idx val="0"/>
          <c:order val="0"/>
          <c:tx>
            <c:strRef>
              <c:f>Sheet1!$B$1</c:f>
              <c:strCache>
                <c:ptCount val="1"/>
                <c:pt idx="0">
                  <c:v>Shannon</c:v>
                </c:pt>
              </c:strCache>
            </c:strRef>
          </c:tx>
          <c:spPr>
            <a:solidFill>
              <a:srgbClr val="1565C0"/>
            </a:solidFill>
            <a:effectLst/>
          </c:spPr>
          <c:invertIfNegative val="0"/>
          <c:cat>
            <c:strRef>
              <c:f>Sheet1!$A$2:$A$5</c:f>
              <c:strCache>
                <c:ptCount val="4"/>
                <c:pt idx="0">
                  <c:v>Central DQN</c:v>
                </c:pt>
                <c:pt idx="1">
                  <c:v>Indep. MARL</c:v>
                </c:pt>
                <c:pt idx="2">
                  <c:v>FedMARL</c:v>
                </c:pt>
                <c:pt idx="3">
                  <c:v>DP-FedMARL</c:v>
                </c:pt>
              </c:strCache>
            </c:strRef>
          </c:cat>
          <c:val>
            <c:numRef>
              <c:f>Sheet1!$B$2:$B$5</c:f>
              <c:numCache>
                <c:formatCode>General</c:formatCode>
                <c:ptCount val="4"/>
                <c:pt idx="0">
                  <c:v>3710.7</c:v>
                </c:pt>
                <c:pt idx="1">
                  <c:v>5850.3</c:v>
                </c:pt>
                <c:pt idx="2">
                  <c:v>4812.3999999999996</c:v>
                </c:pt>
                <c:pt idx="3">
                  <c:v>4912.8999999999996</c:v>
                </c:pt>
              </c:numCache>
            </c:numRef>
          </c:val>
          <c:extLst>
            <c:ext xmlns:c16="http://schemas.microsoft.com/office/drawing/2014/chart" uri="{C3380CC4-5D6E-409C-BE32-E72D297353CC}">
              <c16:uniqueId val="{00000000-AFEE-4EB5-8C3C-5EFD7A287BEF}"/>
            </c:ext>
          </c:extLst>
        </c:ser>
        <c:ser>
          <c:idx val="1"/>
          <c:order val="1"/>
          <c:tx>
            <c:strRef>
              <c:f>Sheet1!$C$1</c:f>
              <c:strCache>
                <c:ptCount val="1"/>
                <c:pt idx="0">
                  <c:v>Demand-satisfied</c:v>
                </c:pt>
              </c:strCache>
            </c:strRef>
          </c:tx>
          <c:spPr>
            <a:solidFill>
              <a:srgbClr val="00B8D9"/>
            </a:solidFill>
            <a:effectLst/>
          </c:spPr>
          <c:invertIfNegative val="0"/>
          <c:cat>
            <c:strRef>
              <c:f>Sheet1!$A$2:$A$5</c:f>
              <c:strCache>
                <c:ptCount val="4"/>
                <c:pt idx="0">
                  <c:v>Central DQN</c:v>
                </c:pt>
                <c:pt idx="1">
                  <c:v>Indep. MARL</c:v>
                </c:pt>
                <c:pt idx="2">
                  <c:v>FedMARL</c:v>
                </c:pt>
                <c:pt idx="3">
                  <c:v>DP-FedMARL</c:v>
                </c:pt>
              </c:strCache>
            </c:strRef>
          </c:cat>
          <c:val>
            <c:numRef>
              <c:f>Sheet1!$C$2:$C$5</c:f>
              <c:numCache>
                <c:formatCode>General</c:formatCode>
                <c:ptCount val="4"/>
                <c:pt idx="0">
                  <c:v>1314.5</c:v>
                </c:pt>
                <c:pt idx="1">
                  <c:v>1446.1</c:v>
                </c:pt>
                <c:pt idx="2">
                  <c:v>1525.2</c:v>
                </c:pt>
                <c:pt idx="3">
                  <c:v>1396.6</c:v>
                </c:pt>
              </c:numCache>
            </c:numRef>
          </c:val>
          <c:extLst>
            <c:ext xmlns:c16="http://schemas.microsoft.com/office/drawing/2014/chart" uri="{C3380CC4-5D6E-409C-BE32-E72D297353CC}">
              <c16:uniqueId val="{00000001-AFEE-4EB5-8C3C-5EFD7A287BEF}"/>
            </c:ext>
          </c:extLst>
        </c:ser>
        <c:ser>
          <c:idx val="2"/>
          <c:order val="2"/>
          <c:tx>
            <c:strRef>
              <c:f>Sheet1!$D$1</c:f>
              <c:strCache>
                <c:ptCount val="1"/>
                <c:pt idx="0">
                  <c:v>Inst. goodput</c:v>
                </c:pt>
              </c:strCache>
            </c:strRef>
          </c:tx>
          <c:spPr>
            <a:solidFill>
              <a:srgbClr val="5A6B7F"/>
            </a:solidFill>
            <a:effectLst/>
          </c:spPr>
          <c:invertIfNegative val="0"/>
          <c:cat>
            <c:strRef>
              <c:f>Sheet1!$A$2:$A$5</c:f>
              <c:strCache>
                <c:ptCount val="4"/>
                <c:pt idx="0">
                  <c:v>Central DQN</c:v>
                </c:pt>
                <c:pt idx="1">
                  <c:v>Indep. MARL</c:v>
                </c:pt>
                <c:pt idx="2">
                  <c:v>FedMARL</c:v>
                </c:pt>
                <c:pt idx="3">
                  <c:v>DP-FedMARL</c:v>
                </c:pt>
              </c:strCache>
            </c:strRef>
          </c:cat>
          <c:val>
            <c:numRef>
              <c:f>Sheet1!$D$2:$D$5</c:f>
              <c:numCache>
                <c:formatCode>General</c:formatCode>
                <c:ptCount val="4"/>
                <c:pt idx="0">
                  <c:v>3275.7</c:v>
                </c:pt>
                <c:pt idx="1">
                  <c:v>5212.8</c:v>
                </c:pt>
                <c:pt idx="2">
                  <c:v>4267</c:v>
                </c:pt>
                <c:pt idx="3">
                  <c:v>4304.5</c:v>
                </c:pt>
              </c:numCache>
            </c:numRef>
          </c:val>
          <c:extLst>
            <c:ext xmlns:c16="http://schemas.microsoft.com/office/drawing/2014/chart" uri="{C3380CC4-5D6E-409C-BE32-E72D297353CC}">
              <c16:uniqueId val="{00000002-AFEE-4EB5-8C3C-5EFD7A287BEF}"/>
            </c:ext>
          </c:extLst>
        </c:ser>
        <c:ser>
          <c:idx val="3"/>
          <c:order val="3"/>
          <c:tx>
            <c:strRef>
              <c:f>Sheet1!$E$1</c:f>
              <c:strCache>
                <c:ptCount val="1"/>
                <c:pt idx="0">
                  <c:v>Decoupled goodput</c:v>
                </c:pt>
              </c:strCache>
            </c:strRef>
          </c:tx>
          <c:spPr>
            <a:solidFill>
              <a:srgbClr val="1E88E5"/>
            </a:solidFill>
            <a:effectLst/>
          </c:spPr>
          <c:invertIfNegative val="0"/>
          <c:cat>
            <c:strRef>
              <c:f>Sheet1!$A$2:$A$5</c:f>
              <c:strCache>
                <c:ptCount val="4"/>
                <c:pt idx="0">
                  <c:v>Central DQN</c:v>
                </c:pt>
                <c:pt idx="1">
                  <c:v>Indep. MARL</c:v>
                </c:pt>
                <c:pt idx="2">
                  <c:v>FedMARL</c:v>
                </c:pt>
                <c:pt idx="3">
                  <c:v>DP-FedMARL</c:v>
                </c:pt>
              </c:strCache>
            </c:strRef>
          </c:cat>
          <c:val>
            <c:numRef>
              <c:f>Sheet1!$E$2:$E$5</c:f>
              <c:numCache>
                <c:formatCode>General</c:formatCode>
                <c:ptCount val="4"/>
                <c:pt idx="0">
                  <c:v>1029.2</c:v>
                </c:pt>
                <c:pt idx="1">
                  <c:v>1809.7</c:v>
                </c:pt>
                <c:pt idx="2">
                  <c:v>1413.6</c:v>
                </c:pt>
                <c:pt idx="3">
                  <c:v>1382.4</c:v>
                </c:pt>
              </c:numCache>
            </c:numRef>
          </c:val>
          <c:extLst>
            <c:ext xmlns:c16="http://schemas.microsoft.com/office/drawing/2014/chart" uri="{C3380CC4-5D6E-409C-BE32-E72D297353CC}">
              <c16:uniqueId val="{00000003-AFEE-4EB5-8C3C-5EFD7A287BE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B1F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6EE"/>
              </a:solidFill>
              <a:prstDash val="solid"/>
              <a:round/>
            </a:ln>
          </c:spPr>
        </c:majorGridlines>
        <c:title>
          <c:tx>
            <c:rich>
              <a:bodyPr/>
              <a:lstStyle/>
              <a:p>
                <a:pPr>
                  <a:defRPr sz="800" b="0" i="0" u="none" strike="noStrike">
                    <a:solidFill>
                      <a:srgbClr val="000000"/>
                    </a:solidFill>
                    <a:latin typeface="Arial"/>
                  </a:defRPr>
                </a:pPr>
                <a:r>
                  <a:rPr lang="en-IN" sz="800" b="0" i="0" u="none" strike="noStrike">
                    <a:solidFill>
                      <a:srgbClr val="000000"/>
                    </a:solidFill>
                    <a:latin typeface="Arial"/>
                  </a:rPr>
                  <a:t>kbps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B7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3A"/>
                </a:solidFill>
                <a:latin typeface="Arial"/>
              </a:defRPr>
            </a:pPr>
            <a:r>
              <a:rPr lang="en-IN" sz="1000" b="0" i="0" u="none" strike="noStrike">
                <a:solidFill>
                  <a:srgbClr val="0B1F3A"/>
                </a:solidFill>
                <a:latin typeface="Arial"/>
              </a:rPr>
              <a:t>Spectral efficiency</a:t>
            </a:r>
          </a:p>
        </c:rich>
      </c:tx>
      <c:overlay val="0"/>
    </c:title>
    <c:autoTitleDeleted val="0"/>
    <c:plotArea>
      <c:layout/>
      <c:barChart>
        <c:barDir val="col"/>
        <c:grouping val="clustered"/>
        <c:varyColors val="0"/>
        <c:ser>
          <c:idx val="0"/>
          <c:order val="0"/>
          <c:tx>
            <c:strRef>
              <c:f>Sheet1!$B$1</c:f>
              <c:strCache>
                <c:ptCount val="1"/>
                <c:pt idx="0">
                  <c:v>SE</c:v>
                </c:pt>
              </c:strCache>
            </c:strRef>
          </c:tx>
          <c:spPr>
            <a:solidFill>
              <a:srgbClr val="1565C0"/>
            </a:solidFill>
            <a:effectLst/>
          </c:spPr>
          <c:invertIfNegative val="0"/>
          <c:dPt>
            <c:idx val="0"/>
            <c:invertIfNegative val="0"/>
            <c:bubble3D val="0"/>
            <c:spPr>
              <a:solidFill>
                <a:srgbClr val="1565C0"/>
              </a:solidFill>
              <a:effectLst/>
            </c:spPr>
            <c:extLst>
              <c:ext xmlns:c16="http://schemas.microsoft.com/office/drawing/2014/chart" uri="{C3380CC4-5D6E-409C-BE32-E72D297353CC}">
                <c16:uniqueId val="{00000001-02E9-46C7-B5D2-59DFCCEA43AA}"/>
              </c:ext>
            </c:extLst>
          </c:dPt>
          <c:dPt>
            <c:idx val="1"/>
            <c:invertIfNegative val="0"/>
            <c:bubble3D val="0"/>
            <c:spPr>
              <a:solidFill>
                <a:srgbClr val="00B8D9"/>
              </a:solidFill>
              <a:effectLst/>
            </c:spPr>
            <c:extLst>
              <c:ext xmlns:c16="http://schemas.microsoft.com/office/drawing/2014/chart" uri="{C3380CC4-5D6E-409C-BE32-E72D297353CC}">
                <c16:uniqueId val="{00000003-02E9-46C7-B5D2-59DFCCEA43AA}"/>
              </c:ext>
            </c:extLst>
          </c:dPt>
          <c:dPt>
            <c:idx val="2"/>
            <c:invertIfNegative val="0"/>
            <c:bubble3D val="0"/>
            <c:spPr>
              <a:solidFill>
                <a:srgbClr val="5A6B7F"/>
              </a:solidFill>
              <a:effectLst/>
            </c:spPr>
            <c:extLst>
              <c:ext xmlns:c16="http://schemas.microsoft.com/office/drawing/2014/chart" uri="{C3380CC4-5D6E-409C-BE32-E72D297353CC}">
                <c16:uniqueId val="{00000005-02E9-46C7-B5D2-59DFCCEA43AA}"/>
              </c:ext>
            </c:extLst>
          </c:dPt>
          <c:dPt>
            <c:idx val="3"/>
            <c:invertIfNegative val="0"/>
            <c:bubble3D val="0"/>
            <c:spPr>
              <a:solidFill>
                <a:srgbClr val="1E88E5"/>
              </a:solidFill>
              <a:effectLst/>
            </c:spPr>
            <c:extLst>
              <c:ext xmlns:c16="http://schemas.microsoft.com/office/drawing/2014/chart" uri="{C3380CC4-5D6E-409C-BE32-E72D297353CC}">
                <c16:uniqueId val="{00000007-02E9-46C7-B5D2-59DFCCEA43AA}"/>
              </c:ext>
            </c:extLst>
          </c:dPt>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Central DQN</c:v>
                </c:pt>
                <c:pt idx="1">
                  <c:v>Indep. MARL</c:v>
                </c:pt>
                <c:pt idx="2">
                  <c:v>FedMARL</c:v>
                </c:pt>
                <c:pt idx="3">
                  <c:v>DP-FedMARL</c:v>
                </c:pt>
              </c:strCache>
            </c:strRef>
          </c:cat>
          <c:val>
            <c:numRef>
              <c:f>Sheet1!$B$2:$B$5</c:f>
              <c:numCache>
                <c:formatCode>General</c:formatCode>
                <c:ptCount val="4"/>
                <c:pt idx="0">
                  <c:v>1.8</c:v>
                </c:pt>
                <c:pt idx="1">
                  <c:v>1.98</c:v>
                </c:pt>
                <c:pt idx="2">
                  <c:v>1.84</c:v>
                </c:pt>
                <c:pt idx="3">
                  <c:v>1.79</c:v>
                </c:pt>
              </c:numCache>
            </c:numRef>
          </c:val>
          <c:extLst>
            <c:ext xmlns:c16="http://schemas.microsoft.com/office/drawing/2014/chart" uri="{C3380CC4-5D6E-409C-BE32-E72D297353CC}">
              <c16:uniqueId val="{00000008-02E9-46C7-B5D2-59DFCCEA43A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B1F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6EE"/>
              </a:solidFill>
              <a:prstDash val="solid"/>
              <a:round/>
            </a:ln>
          </c:spPr>
        </c:majorGridlines>
        <c:title>
          <c:tx>
            <c:rich>
              <a:bodyPr/>
              <a:lstStyle/>
              <a:p>
                <a:pPr>
                  <a:defRPr sz="800" b="0" i="0" u="none" strike="noStrike">
                    <a:solidFill>
                      <a:srgbClr val="000000"/>
                    </a:solidFill>
                    <a:latin typeface="Arial"/>
                  </a:defRPr>
                </a:pPr>
                <a:r>
                  <a:rPr lang="en-IN" sz="800" b="0" i="0" u="none" strike="noStrike">
                    <a:solidFill>
                      <a:srgbClr val="000000"/>
                    </a:solidFill>
                    <a:latin typeface="Arial"/>
                  </a:rPr>
                  <a:t>bits/s/Hz</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3A"/>
                </a:solidFill>
                <a:latin typeface="Arial"/>
              </a:defRPr>
            </a:pPr>
            <a:r>
              <a:rPr lang="en-IN" sz="1000" b="0" i="0" u="none" strike="noStrike">
                <a:solidFill>
                  <a:srgbClr val="0B1F3A"/>
                </a:solidFill>
                <a:latin typeface="Arial"/>
              </a:rPr>
              <a:t>Latency</a:t>
            </a:r>
          </a:p>
        </c:rich>
      </c:tx>
      <c:overlay val="0"/>
    </c:title>
    <c:autoTitleDeleted val="0"/>
    <c:plotArea>
      <c:layout/>
      <c:barChart>
        <c:barDir val="col"/>
        <c:grouping val="clustered"/>
        <c:varyColors val="0"/>
        <c:ser>
          <c:idx val="0"/>
          <c:order val="0"/>
          <c:tx>
            <c:strRef>
              <c:f>Sheet1!$B$1</c:f>
              <c:strCache>
                <c:ptCount val="1"/>
                <c:pt idx="0">
                  <c:v>Latency</c:v>
                </c:pt>
              </c:strCache>
            </c:strRef>
          </c:tx>
          <c:spPr>
            <a:solidFill>
              <a:srgbClr val="1565C0"/>
            </a:solidFill>
            <a:effectLst/>
          </c:spPr>
          <c:invertIfNegative val="0"/>
          <c:dPt>
            <c:idx val="0"/>
            <c:invertIfNegative val="0"/>
            <c:bubble3D val="0"/>
            <c:extLst>
              <c:ext xmlns:c16="http://schemas.microsoft.com/office/drawing/2014/chart" uri="{C3380CC4-5D6E-409C-BE32-E72D297353CC}">
                <c16:uniqueId val="{00000001-C0BD-4BBB-BEB2-A148B2680D9D}"/>
              </c:ext>
            </c:extLst>
          </c:dPt>
          <c:dPt>
            <c:idx val="1"/>
            <c:invertIfNegative val="0"/>
            <c:bubble3D val="0"/>
            <c:spPr>
              <a:solidFill>
                <a:srgbClr val="00B8D9"/>
              </a:solidFill>
              <a:effectLst/>
            </c:spPr>
            <c:extLst>
              <c:ext xmlns:c16="http://schemas.microsoft.com/office/drawing/2014/chart" uri="{C3380CC4-5D6E-409C-BE32-E72D297353CC}">
                <c16:uniqueId val="{00000003-C0BD-4BBB-BEB2-A148B2680D9D}"/>
              </c:ext>
            </c:extLst>
          </c:dPt>
          <c:dPt>
            <c:idx val="2"/>
            <c:invertIfNegative val="0"/>
            <c:bubble3D val="0"/>
            <c:spPr>
              <a:solidFill>
                <a:srgbClr val="5A6B7F"/>
              </a:solidFill>
              <a:effectLst/>
            </c:spPr>
            <c:extLst>
              <c:ext xmlns:c16="http://schemas.microsoft.com/office/drawing/2014/chart" uri="{C3380CC4-5D6E-409C-BE32-E72D297353CC}">
                <c16:uniqueId val="{00000005-C0BD-4BBB-BEB2-A148B2680D9D}"/>
              </c:ext>
            </c:extLst>
          </c:dPt>
          <c:dPt>
            <c:idx val="3"/>
            <c:invertIfNegative val="0"/>
            <c:bubble3D val="0"/>
            <c:spPr>
              <a:solidFill>
                <a:srgbClr val="1E88E5"/>
              </a:solidFill>
              <a:effectLst/>
            </c:spPr>
            <c:extLst>
              <c:ext xmlns:c16="http://schemas.microsoft.com/office/drawing/2014/chart" uri="{C3380CC4-5D6E-409C-BE32-E72D297353CC}">
                <c16:uniqueId val="{00000007-C0BD-4BBB-BEB2-A148B2680D9D}"/>
              </c:ext>
            </c:extLst>
          </c:dPt>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Central DQN</c:v>
                </c:pt>
                <c:pt idx="1">
                  <c:v>Indep. MARL</c:v>
                </c:pt>
                <c:pt idx="2">
                  <c:v>FedMARL</c:v>
                </c:pt>
                <c:pt idx="3">
                  <c:v>DP-FedMARL</c:v>
                </c:pt>
              </c:strCache>
            </c:strRef>
          </c:cat>
          <c:val>
            <c:numRef>
              <c:f>Sheet1!$B$2:$B$5</c:f>
              <c:numCache>
                <c:formatCode>General</c:formatCode>
                <c:ptCount val="4"/>
                <c:pt idx="0">
                  <c:v>71.7</c:v>
                </c:pt>
                <c:pt idx="1">
                  <c:v>64.7</c:v>
                </c:pt>
                <c:pt idx="2">
                  <c:v>68.5</c:v>
                </c:pt>
                <c:pt idx="3">
                  <c:v>67.5</c:v>
                </c:pt>
              </c:numCache>
            </c:numRef>
          </c:val>
          <c:extLst>
            <c:ext xmlns:c16="http://schemas.microsoft.com/office/drawing/2014/chart" uri="{C3380CC4-5D6E-409C-BE32-E72D297353CC}">
              <c16:uniqueId val="{00000008-C0BD-4BBB-BEB2-A148B2680D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B1F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6EE"/>
              </a:solidFill>
              <a:prstDash val="solid"/>
              <a:round/>
            </a:ln>
          </c:spPr>
        </c:majorGridlines>
        <c:title>
          <c:tx>
            <c:rich>
              <a:bodyPr/>
              <a:lstStyle/>
              <a:p>
                <a:pPr>
                  <a:defRPr sz="800" b="0" i="0" u="none" strike="noStrike">
                    <a:solidFill>
                      <a:srgbClr val="000000"/>
                    </a:solidFill>
                    <a:latin typeface="Arial"/>
                  </a:defRPr>
                </a:pPr>
                <a:r>
                  <a:rPr lang="en-IN" sz="800" b="0" i="0" u="none" strike="noStrike">
                    <a:solidFill>
                      <a:srgbClr val="000000"/>
                    </a:solidFill>
                    <a:latin typeface="Arial"/>
                  </a:rPr>
                  <a:t>ms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B7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B1F3A"/>
                </a:solidFill>
                <a:latin typeface="Arial"/>
              </a:defRPr>
            </a:pPr>
            <a:r>
              <a:rPr lang="en-IN" sz="1000" b="0" i="0" u="none" strike="noStrike">
                <a:solidFill>
                  <a:srgbClr val="0B1F3A"/>
                </a:solidFill>
                <a:latin typeface="Arial"/>
              </a:rPr>
              <a:t>Collision rate and PDR</a:t>
            </a:r>
          </a:p>
        </c:rich>
      </c:tx>
      <c:overlay val="0"/>
    </c:title>
    <c:autoTitleDeleted val="0"/>
    <c:plotArea>
      <c:layout/>
      <c:barChart>
        <c:barDir val="col"/>
        <c:grouping val="clustered"/>
        <c:varyColors val="0"/>
        <c:ser>
          <c:idx val="0"/>
          <c:order val="0"/>
          <c:tx>
            <c:strRef>
              <c:f>Sheet1!$B$1</c:f>
              <c:strCache>
                <c:ptCount val="1"/>
                <c:pt idx="0">
                  <c:v>Collision</c:v>
                </c:pt>
              </c:strCache>
            </c:strRef>
          </c:tx>
          <c:spPr>
            <a:solidFill>
              <a:srgbClr val="1565C0"/>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Central DQN</c:v>
                </c:pt>
                <c:pt idx="1">
                  <c:v>Indep. MARL</c:v>
                </c:pt>
                <c:pt idx="2">
                  <c:v>FedMARL</c:v>
                </c:pt>
                <c:pt idx="3">
                  <c:v>DP-FedMARL</c:v>
                </c:pt>
              </c:strCache>
            </c:strRef>
          </c:cat>
          <c:val>
            <c:numRef>
              <c:f>Sheet1!$B$2:$B$5</c:f>
              <c:numCache>
                <c:formatCode>General</c:formatCode>
                <c:ptCount val="4"/>
                <c:pt idx="0">
                  <c:v>98.6</c:v>
                </c:pt>
                <c:pt idx="1">
                  <c:v>80.099999999999994</c:v>
                </c:pt>
                <c:pt idx="2">
                  <c:v>81.8</c:v>
                </c:pt>
                <c:pt idx="3">
                  <c:v>81.900000000000006</c:v>
                </c:pt>
              </c:numCache>
            </c:numRef>
          </c:val>
          <c:extLst>
            <c:ext xmlns:c16="http://schemas.microsoft.com/office/drawing/2014/chart" uri="{C3380CC4-5D6E-409C-BE32-E72D297353CC}">
              <c16:uniqueId val="{00000000-3591-42DE-B61E-BC67DE527524}"/>
            </c:ext>
          </c:extLst>
        </c:ser>
        <c:ser>
          <c:idx val="1"/>
          <c:order val="1"/>
          <c:tx>
            <c:strRef>
              <c:f>Sheet1!$C$1</c:f>
              <c:strCache>
                <c:ptCount val="1"/>
                <c:pt idx="0">
                  <c:v>PDR</c:v>
                </c:pt>
              </c:strCache>
            </c:strRef>
          </c:tx>
          <c:spPr>
            <a:solidFill>
              <a:srgbClr val="00B8D9"/>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Central DQN</c:v>
                </c:pt>
                <c:pt idx="1">
                  <c:v>Indep. MARL</c:v>
                </c:pt>
                <c:pt idx="2">
                  <c:v>FedMARL</c:v>
                </c:pt>
                <c:pt idx="3">
                  <c:v>DP-FedMARL</c:v>
                </c:pt>
              </c:strCache>
            </c:strRef>
          </c:cat>
          <c:val>
            <c:numRef>
              <c:f>Sheet1!$C$2:$C$5</c:f>
              <c:numCache>
                <c:formatCode>General</c:formatCode>
                <c:ptCount val="4"/>
                <c:pt idx="0">
                  <c:v>28.5</c:v>
                </c:pt>
                <c:pt idx="1">
                  <c:v>31.8</c:v>
                </c:pt>
                <c:pt idx="2">
                  <c:v>30.2</c:v>
                </c:pt>
                <c:pt idx="3">
                  <c:v>28.9</c:v>
                </c:pt>
              </c:numCache>
            </c:numRef>
          </c:val>
          <c:extLst>
            <c:ext xmlns:c16="http://schemas.microsoft.com/office/drawing/2014/chart" uri="{C3380CC4-5D6E-409C-BE32-E72D297353CC}">
              <c16:uniqueId val="{00000001-3591-42DE-B61E-BC67DE52752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B1F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6EE"/>
              </a:solidFill>
              <a:prstDash val="solid"/>
              <a:round/>
            </a:ln>
          </c:spPr>
        </c:majorGridlines>
        <c:title>
          <c:tx>
            <c:rich>
              <a:bodyPr/>
              <a:lstStyle/>
              <a:p>
                <a:pPr>
                  <a:defRPr sz="800" b="0" i="0" u="none" strike="noStrike">
                    <a:solidFill>
                      <a:srgbClr val="000000"/>
                    </a:solidFill>
                    <a:latin typeface="Arial"/>
                  </a:defRPr>
                </a:pPr>
                <a:r>
                  <a:rPr lang="en-IN" sz="800" b="0" i="0" u="none" strike="noStrike">
                    <a:solidFill>
                      <a:srgbClr val="000000"/>
                    </a:solidFill>
                    <a:latin typeface="Arial"/>
                  </a:rPr>
                  <a: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A6B7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1714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wireless devices share limited spectrum, so poor allocation causes collisions, latency and wasted throughput. Centralized learning needs data collected in one place; independent agents cannot learn from each other. Federated learning shares model updates instead; differential privacy adds a further mechanism but can cost performance. Finish with the problem statement and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objectives. Be honest: objectives are addressed within a simulation; privacy and overhead analysis depend on what the implementation actually records, and limitations are part of the outcome.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dataset file and its feature categories. Stress that dataset columns are recorded inputs, while throughput, goodput, BER, PER and others are computed by the evaluation code. Record count (15,760) and preprocessing details come from your project summary and must be confirmed in the code before presenting. State the actual train/test split and seed from your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dataset to preprocessing to the simulated environment; each of the five agents observes local state and picks a channel; the reward and wireless feedback train local DQNs; updates go to the FedAvg server, optionally clipped and noised in the DP-FedMARL branch; the global model returns to agents. Centralized and independent baselines are separate paths into the same evaluation. Local data staying local is the design intent, to be confirmed against the code; no privacy guarantee is claimed.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approaches: centralized DQN as a baseline; independent MARL with separate DQN agents; federated MARL where local DQNs are averaged by FedAvg; and DP-FedMARL which adds clipping and noise to updates if the code does so. Clarify that DQN is the RL algorithm, MARL the multi-agent setup, FedAvg the aggregation rule and differential privacy a privacy mechanism, so they are not four unrelated algorithms. Cycle: observe state, choose channel, get reward, update local policy, send update, aggregate, redistribute. Refs: Mnih et al. 2015 (DQN); McMahan et al. 2017 (FedAvg); Dwork and Roth 2014 (DP).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evaluation uses wireless metrics rather than generic ML scores. For each metric, say whether it is simulated or derived. The nature column is the expected definition and must be checked against wireless_metrics.py. Theoretical BER is a model estimate, not a measured bit-error rate. EVM is not evaluated because raw I/Q data are unavailable. Episodes, seeds and the split must be filled in from your code. Jain, Chiu and Hawe 1984 defines the fairness index.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an earlier project summary; wireless_model_comparison.csv was not available, so they are labelled unverified. Replace with CSV values before presenting. Point out trade-offs: independent MARL has the highest Shannon throughput and spectral efficiency, federated MARL has the highest demand-satisfied throughput, DP-FedMARL gives up some demand-satisfied throughput and PDR relative to FedAvg, and collision rate stays near 80 percent for all except the centralized baseline at 98.6 percent. Fairness is about 0.37 for all, so 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trade-offs using the reported figures, noting they are unverified. No approach wins everywhere. Be candid that collision rates of about 80 percent and PDR near 30 percent are weak and need improvement. Simulation results do not equal real deployment. Applications are possibilities, not demonstrated deployments. Do not claim formal privacy guarantees.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problem, four implemented approaches, the key reported results (to be verified), what they show (trade-offs in a simulation) and what they do not show (real-world performance, formal privacy). Close with future work,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2B138FEB-6409-60CD-32AD-0268147528C9}"/>
              </a:ext>
            </a:extLst>
          </p:cNvPr>
          <p:cNvSpPr txBox="1"/>
          <p:nvPr/>
        </p:nvSpPr>
        <p:spPr>
          <a:xfrm>
            <a:off x="281940" y="108950"/>
            <a:ext cx="8229600" cy="1371600"/>
          </a:xfrm>
          <a:prstGeom prst="rect">
            <a:avLst/>
          </a:prstGeom>
          <a:noFill/>
          <a:ln/>
        </p:spPr>
        <p:txBody>
          <a:bodyPr wrap="square" lIns="381" tIns="381" rIns="381" bIns="381" rtlCol="0" anchor="t"/>
          <a:lstStyle/>
          <a:p>
            <a:pPr marL="0" indent="0">
              <a:buNone/>
            </a:pPr>
            <a:r>
              <a:rPr lang="en-US" sz="2800" b="1" dirty="0">
                <a:solidFill>
                  <a:schemeClr val="tx1">
                    <a:lumMod val="75000"/>
                    <a:lumOff val="25000"/>
                  </a:schemeClr>
                </a:solidFill>
                <a:latin typeface="Calibri" pitchFamily="34" charset="0"/>
                <a:ea typeface="Calibri" pitchFamily="34" charset="-122"/>
                <a:cs typeface="Calibri" pitchFamily="34" charset="-120"/>
              </a:rPr>
              <a:t>Federated Multi-Agent Reinforcement Learning for Privacy-Preserving Distributed Wireless Resource Management</a:t>
            </a:r>
            <a:endParaRPr lang="en-US" sz="2800" dirty="0">
              <a:solidFill>
                <a:schemeClr val="tx1">
                  <a:lumMod val="75000"/>
                  <a:lumOff val="25000"/>
                </a:schemeClr>
              </a:solidFill>
            </a:endParaRPr>
          </a:p>
        </p:txBody>
      </p:sp>
      <p:sp>
        <p:nvSpPr>
          <p:cNvPr id="9" name="Text 1">
            <a:extLst>
              <a:ext uri="{FF2B5EF4-FFF2-40B4-BE49-F238E27FC236}">
                <a16:creationId xmlns:a16="http://schemas.microsoft.com/office/drawing/2014/main" id="{92CFD414-9E64-CAEF-2336-5860B3ABC179}"/>
              </a:ext>
            </a:extLst>
          </p:cNvPr>
          <p:cNvSpPr txBox="1"/>
          <p:nvPr/>
        </p:nvSpPr>
        <p:spPr>
          <a:xfrm>
            <a:off x="1886115" y="1425656"/>
            <a:ext cx="4603260" cy="365760"/>
          </a:xfrm>
          <a:prstGeom prst="rect">
            <a:avLst/>
          </a:prstGeom>
          <a:noFill/>
          <a:ln/>
        </p:spPr>
        <p:txBody>
          <a:bodyPr wrap="square" lIns="381" tIns="381" rIns="381" bIns="381" rtlCol="0" anchor="ctr"/>
          <a:lstStyle/>
          <a:p>
            <a:pPr marL="0" indent="0">
              <a:buNone/>
            </a:pPr>
            <a:r>
              <a:rPr lang="en-US" sz="1400" dirty="0">
                <a:solidFill>
                  <a:srgbClr val="00B8D9"/>
                </a:solidFill>
                <a:latin typeface="Calibri" pitchFamily="34" charset="0"/>
                <a:ea typeface="Calibri" pitchFamily="34" charset="-122"/>
                <a:cs typeface="Calibri" pitchFamily="34" charset="-120"/>
              </a:rPr>
              <a:t>B.Tech Project  |  Final Review  |  Python-based simulation study</a:t>
            </a:r>
            <a:endParaRPr lang="en-US" sz="1400" dirty="0"/>
          </a:p>
        </p:txBody>
      </p:sp>
      <p:sp>
        <p:nvSpPr>
          <p:cNvPr id="11" name="Text 2">
            <a:extLst>
              <a:ext uri="{FF2B5EF4-FFF2-40B4-BE49-F238E27FC236}">
                <a16:creationId xmlns:a16="http://schemas.microsoft.com/office/drawing/2014/main" id="{BC5A1AE2-76FD-5646-6E2B-5A693A31C6CC}"/>
              </a:ext>
            </a:extLst>
          </p:cNvPr>
          <p:cNvSpPr txBox="1"/>
          <p:nvPr/>
        </p:nvSpPr>
        <p:spPr>
          <a:xfrm>
            <a:off x="281940" y="2198053"/>
            <a:ext cx="2693377" cy="552450"/>
          </a:xfrm>
          <a:prstGeom prst="rect">
            <a:avLst/>
          </a:prstGeom>
          <a:noFill/>
          <a:ln/>
        </p:spPr>
        <p:txBody>
          <a:bodyPr wrap="square" lIns="381" tIns="381" rIns="381" bIns="381"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a:t>
            </a:r>
            <a:endParaRPr lang="en-US" sz="1100" dirty="0"/>
          </a:p>
        </p:txBody>
      </p:sp>
      <p:sp>
        <p:nvSpPr>
          <p:cNvPr id="13" name="Shape 3">
            <a:extLst>
              <a:ext uri="{FF2B5EF4-FFF2-40B4-BE49-F238E27FC236}">
                <a16:creationId xmlns:a16="http://schemas.microsoft.com/office/drawing/2014/main" id="{576A520B-1940-0508-37F3-8855D27D5B69}"/>
              </a:ext>
            </a:extLst>
          </p:cNvPr>
          <p:cNvSpPr/>
          <p:nvPr/>
        </p:nvSpPr>
        <p:spPr>
          <a:xfrm flipV="1">
            <a:off x="1280160" y="3520123"/>
            <a:ext cx="2377440" cy="524589"/>
          </a:xfrm>
          <a:prstGeom prst="line">
            <a:avLst/>
          </a:prstGeom>
          <a:noFill/>
          <a:ln w="12700">
            <a:solidFill>
              <a:srgbClr val="3A5A80"/>
            </a:solidFill>
            <a:prstDash val="dash"/>
          </a:ln>
        </p:spPr>
        <p:txBody>
          <a:bodyPr/>
          <a:lstStyle/>
          <a:p>
            <a:endParaRPr lang="en-IN" dirty="0"/>
          </a:p>
        </p:txBody>
      </p:sp>
      <p:sp>
        <p:nvSpPr>
          <p:cNvPr id="15" name="Shape 4">
            <a:extLst>
              <a:ext uri="{FF2B5EF4-FFF2-40B4-BE49-F238E27FC236}">
                <a16:creationId xmlns:a16="http://schemas.microsoft.com/office/drawing/2014/main" id="{53E76E80-0BC5-4238-3067-9B99403AEC3E}"/>
              </a:ext>
            </a:extLst>
          </p:cNvPr>
          <p:cNvSpPr/>
          <p:nvPr/>
        </p:nvSpPr>
        <p:spPr>
          <a:xfrm flipV="1">
            <a:off x="2883877" y="3649662"/>
            <a:ext cx="956604" cy="451090"/>
          </a:xfrm>
          <a:prstGeom prst="line">
            <a:avLst/>
          </a:prstGeom>
          <a:noFill/>
          <a:ln w="12700">
            <a:solidFill>
              <a:srgbClr val="3A5A80"/>
            </a:solidFill>
            <a:prstDash val="dash"/>
          </a:ln>
        </p:spPr>
      </p:sp>
      <p:sp>
        <p:nvSpPr>
          <p:cNvPr id="17" name="Shape 5">
            <a:extLst>
              <a:ext uri="{FF2B5EF4-FFF2-40B4-BE49-F238E27FC236}">
                <a16:creationId xmlns:a16="http://schemas.microsoft.com/office/drawing/2014/main" id="{E6544181-611E-6ED4-C65E-5C23559BFD72}"/>
              </a:ext>
            </a:extLst>
          </p:cNvPr>
          <p:cNvSpPr/>
          <p:nvPr/>
        </p:nvSpPr>
        <p:spPr>
          <a:xfrm>
            <a:off x="4389120" y="3520440"/>
            <a:ext cx="83820" cy="685800"/>
          </a:xfrm>
          <a:prstGeom prst="line">
            <a:avLst/>
          </a:prstGeom>
          <a:noFill/>
          <a:ln w="12700">
            <a:solidFill>
              <a:srgbClr val="3A5A80"/>
            </a:solidFill>
            <a:prstDash val="dash"/>
          </a:ln>
        </p:spPr>
      </p:sp>
      <p:sp>
        <p:nvSpPr>
          <p:cNvPr id="19" name="Shape 6">
            <a:extLst>
              <a:ext uri="{FF2B5EF4-FFF2-40B4-BE49-F238E27FC236}">
                <a16:creationId xmlns:a16="http://schemas.microsoft.com/office/drawing/2014/main" id="{2D58A388-0CA7-AC88-D06F-8CBAEFFAA099}"/>
              </a:ext>
            </a:extLst>
          </p:cNvPr>
          <p:cNvSpPr/>
          <p:nvPr/>
        </p:nvSpPr>
        <p:spPr>
          <a:xfrm>
            <a:off x="4572000" y="3520440"/>
            <a:ext cx="1371600" cy="502920"/>
          </a:xfrm>
          <a:prstGeom prst="line">
            <a:avLst/>
          </a:prstGeom>
          <a:noFill/>
          <a:ln w="12700">
            <a:solidFill>
              <a:srgbClr val="3A5A80"/>
            </a:solidFill>
            <a:prstDash val="dash"/>
          </a:ln>
        </p:spPr>
      </p:sp>
      <p:sp>
        <p:nvSpPr>
          <p:cNvPr id="21" name="Shape 7">
            <a:extLst>
              <a:ext uri="{FF2B5EF4-FFF2-40B4-BE49-F238E27FC236}">
                <a16:creationId xmlns:a16="http://schemas.microsoft.com/office/drawing/2014/main" id="{89CAFD98-87A0-2176-92B4-5EBA23E33FF9}"/>
              </a:ext>
            </a:extLst>
          </p:cNvPr>
          <p:cNvSpPr/>
          <p:nvPr/>
        </p:nvSpPr>
        <p:spPr>
          <a:xfrm>
            <a:off x="4572000" y="3520440"/>
            <a:ext cx="2926080" cy="502920"/>
          </a:xfrm>
          <a:prstGeom prst="line">
            <a:avLst/>
          </a:prstGeom>
          <a:noFill/>
          <a:ln w="12700">
            <a:solidFill>
              <a:srgbClr val="3A5A80"/>
            </a:solidFill>
            <a:prstDash val="dash"/>
          </a:ln>
        </p:spPr>
      </p:sp>
      <p:sp>
        <p:nvSpPr>
          <p:cNvPr id="23" name="Shape 8">
            <a:extLst>
              <a:ext uri="{FF2B5EF4-FFF2-40B4-BE49-F238E27FC236}">
                <a16:creationId xmlns:a16="http://schemas.microsoft.com/office/drawing/2014/main" id="{1E01F5B2-01C6-4CF3-431D-E1097FE4A90A}"/>
              </a:ext>
            </a:extLst>
          </p:cNvPr>
          <p:cNvSpPr/>
          <p:nvPr/>
        </p:nvSpPr>
        <p:spPr>
          <a:xfrm>
            <a:off x="822960" y="4206240"/>
            <a:ext cx="914400" cy="502920"/>
          </a:xfrm>
          <a:prstGeom prst="roundRect">
            <a:avLst>
              <a:gd name="adj" fmla="val 14545"/>
            </a:avLst>
          </a:prstGeom>
          <a:solidFill>
            <a:srgbClr val="1565C0"/>
          </a:solidFill>
          <a:ln w="12700">
            <a:solidFill>
              <a:srgbClr val="00B8D9"/>
            </a:solidFill>
            <a:prstDash val="solid"/>
          </a:ln>
        </p:spPr>
      </p:sp>
      <p:sp>
        <p:nvSpPr>
          <p:cNvPr id="25" name="Text 9">
            <a:extLst>
              <a:ext uri="{FF2B5EF4-FFF2-40B4-BE49-F238E27FC236}">
                <a16:creationId xmlns:a16="http://schemas.microsoft.com/office/drawing/2014/main" id="{B16811F0-85FD-E7CD-0333-3EDB7BA95217}"/>
              </a:ext>
            </a:extLst>
          </p:cNvPr>
          <p:cNvSpPr txBox="1"/>
          <p:nvPr/>
        </p:nvSpPr>
        <p:spPr>
          <a:xfrm>
            <a:off x="822960" y="4206240"/>
            <a:ext cx="914400" cy="502920"/>
          </a:xfrm>
          <a:prstGeom prst="rect">
            <a:avLst/>
          </a:prstGeom>
          <a:noFill/>
          <a:ln/>
        </p:spPr>
        <p:txBody>
          <a:bodyPr wrap="square" lIns="381" tIns="381" rIns="381" bIns="381"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Agent 1</a:t>
            </a:r>
            <a:endParaRPr lang="en-US" sz="1100" dirty="0"/>
          </a:p>
        </p:txBody>
      </p:sp>
      <p:sp>
        <p:nvSpPr>
          <p:cNvPr id="27" name="Shape 10">
            <a:extLst>
              <a:ext uri="{FF2B5EF4-FFF2-40B4-BE49-F238E27FC236}">
                <a16:creationId xmlns:a16="http://schemas.microsoft.com/office/drawing/2014/main" id="{A065B930-4321-528B-69A4-2B4B728A5C5D}"/>
              </a:ext>
            </a:extLst>
          </p:cNvPr>
          <p:cNvSpPr/>
          <p:nvPr/>
        </p:nvSpPr>
        <p:spPr>
          <a:xfrm>
            <a:off x="2377440" y="4206240"/>
            <a:ext cx="914400" cy="502920"/>
          </a:xfrm>
          <a:prstGeom prst="roundRect">
            <a:avLst>
              <a:gd name="adj" fmla="val 14545"/>
            </a:avLst>
          </a:prstGeom>
          <a:solidFill>
            <a:srgbClr val="1565C0"/>
          </a:solidFill>
          <a:ln w="12700">
            <a:solidFill>
              <a:srgbClr val="00B8D9"/>
            </a:solidFill>
            <a:prstDash val="solid"/>
          </a:ln>
        </p:spPr>
      </p:sp>
      <p:sp>
        <p:nvSpPr>
          <p:cNvPr id="29" name="Text 11">
            <a:extLst>
              <a:ext uri="{FF2B5EF4-FFF2-40B4-BE49-F238E27FC236}">
                <a16:creationId xmlns:a16="http://schemas.microsoft.com/office/drawing/2014/main" id="{14F6CD85-ADFA-16AE-441E-6B5A3951E898}"/>
              </a:ext>
            </a:extLst>
          </p:cNvPr>
          <p:cNvSpPr txBox="1"/>
          <p:nvPr/>
        </p:nvSpPr>
        <p:spPr>
          <a:xfrm>
            <a:off x="2377440" y="4206240"/>
            <a:ext cx="914400" cy="502920"/>
          </a:xfrm>
          <a:prstGeom prst="rect">
            <a:avLst/>
          </a:prstGeom>
          <a:noFill/>
          <a:ln/>
        </p:spPr>
        <p:txBody>
          <a:bodyPr wrap="square" lIns="381" tIns="381" rIns="381" bIns="381"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Agent 2</a:t>
            </a:r>
            <a:endParaRPr lang="en-US" sz="1100" dirty="0"/>
          </a:p>
        </p:txBody>
      </p:sp>
      <p:sp>
        <p:nvSpPr>
          <p:cNvPr id="31" name="Shape 12">
            <a:extLst>
              <a:ext uri="{FF2B5EF4-FFF2-40B4-BE49-F238E27FC236}">
                <a16:creationId xmlns:a16="http://schemas.microsoft.com/office/drawing/2014/main" id="{1BC558BB-7F7C-8601-E932-84D41FF392E3}"/>
              </a:ext>
            </a:extLst>
          </p:cNvPr>
          <p:cNvSpPr/>
          <p:nvPr/>
        </p:nvSpPr>
        <p:spPr>
          <a:xfrm>
            <a:off x="3931920" y="4206240"/>
            <a:ext cx="914400" cy="502920"/>
          </a:xfrm>
          <a:prstGeom prst="roundRect">
            <a:avLst>
              <a:gd name="adj" fmla="val 14545"/>
            </a:avLst>
          </a:prstGeom>
          <a:solidFill>
            <a:srgbClr val="1565C0"/>
          </a:solidFill>
          <a:ln w="12700">
            <a:solidFill>
              <a:srgbClr val="00B8D9"/>
            </a:solidFill>
            <a:prstDash val="solid"/>
          </a:ln>
        </p:spPr>
      </p:sp>
      <p:sp>
        <p:nvSpPr>
          <p:cNvPr id="33" name="Text 13">
            <a:extLst>
              <a:ext uri="{FF2B5EF4-FFF2-40B4-BE49-F238E27FC236}">
                <a16:creationId xmlns:a16="http://schemas.microsoft.com/office/drawing/2014/main" id="{9BB610D2-BCB0-6009-F6E4-BE90D5E4EA72}"/>
              </a:ext>
            </a:extLst>
          </p:cNvPr>
          <p:cNvSpPr txBox="1"/>
          <p:nvPr/>
        </p:nvSpPr>
        <p:spPr>
          <a:xfrm>
            <a:off x="3931920" y="4206240"/>
            <a:ext cx="914400" cy="502920"/>
          </a:xfrm>
          <a:prstGeom prst="rect">
            <a:avLst/>
          </a:prstGeom>
          <a:noFill/>
          <a:ln/>
        </p:spPr>
        <p:txBody>
          <a:bodyPr wrap="square" lIns="381" tIns="381" rIns="381" bIns="381"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Agent 3</a:t>
            </a:r>
            <a:endParaRPr lang="en-US" sz="1100" dirty="0"/>
          </a:p>
        </p:txBody>
      </p:sp>
      <p:sp>
        <p:nvSpPr>
          <p:cNvPr id="35" name="Shape 14">
            <a:extLst>
              <a:ext uri="{FF2B5EF4-FFF2-40B4-BE49-F238E27FC236}">
                <a16:creationId xmlns:a16="http://schemas.microsoft.com/office/drawing/2014/main" id="{74785522-2320-06A4-BEBB-22CB37FC4177}"/>
              </a:ext>
            </a:extLst>
          </p:cNvPr>
          <p:cNvSpPr/>
          <p:nvPr/>
        </p:nvSpPr>
        <p:spPr>
          <a:xfrm>
            <a:off x="5486400" y="4206240"/>
            <a:ext cx="914400" cy="502920"/>
          </a:xfrm>
          <a:prstGeom prst="roundRect">
            <a:avLst>
              <a:gd name="adj" fmla="val 14545"/>
            </a:avLst>
          </a:prstGeom>
          <a:solidFill>
            <a:srgbClr val="1565C0"/>
          </a:solidFill>
          <a:ln w="12700">
            <a:solidFill>
              <a:srgbClr val="00B8D9"/>
            </a:solidFill>
            <a:prstDash val="solid"/>
          </a:ln>
        </p:spPr>
      </p:sp>
      <p:sp>
        <p:nvSpPr>
          <p:cNvPr id="37" name="Text 15">
            <a:extLst>
              <a:ext uri="{FF2B5EF4-FFF2-40B4-BE49-F238E27FC236}">
                <a16:creationId xmlns:a16="http://schemas.microsoft.com/office/drawing/2014/main" id="{F0F0952D-CA4D-105A-D2A4-85A7340CA668}"/>
              </a:ext>
            </a:extLst>
          </p:cNvPr>
          <p:cNvSpPr txBox="1"/>
          <p:nvPr/>
        </p:nvSpPr>
        <p:spPr>
          <a:xfrm>
            <a:off x="5486400" y="4206240"/>
            <a:ext cx="914400" cy="502920"/>
          </a:xfrm>
          <a:prstGeom prst="rect">
            <a:avLst/>
          </a:prstGeom>
          <a:noFill/>
          <a:ln/>
        </p:spPr>
        <p:txBody>
          <a:bodyPr wrap="square" lIns="381" tIns="381" rIns="381" bIns="381"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Agent 4</a:t>
            </a:r>
            <a:endParaRPr lang="en-US" sz="1100" dirty="0"/>
          </a:p>
        </p:txBody>
      </p:sp>
      <p:sp>
        <p:nvSpPr>
          <p:cNvPr id="39" name="Shape 16">
            <a:extLst>
              <a:ext uri="{FF2B5EF4-FFF2-40B4-BE49-F238E27FC236}">
                <a16:creationId xmlns:a16="http://schemas.microsoft.com/office/drawing/2014/main" id="{CCACF118-D999-D21F-7A86-C53BA8E39A9B}"/>
              </a:ext>
            </a:extLst>
          </p:cNvPr>
          <p:cNvSpPr/>
          <p:nvPr/>
        </p:nvSpPr>
        <p:spPr>
          <a:xfrm>
            <a:off x="7040880" y="4206240"/>
            <a:ext cx="914400" cy="502920"/>
          </a:xfrm>
          <a:prstGeom prst="roundRect">
            <a:avLst>
              <a:gd name="adj" fmla="val 14545"/>
            </a:avLst>
          </a:prstGeom>
          <a:solidFill>
            <a:srgbClr val="1565C0"/>
          </a:solidFill>
          <a:ln w="12700">
            <a:solidFill>
              <a:srgbClr val="00B8D9"/>
            </a:solidFill>
            <a:prstDash val="solid"/>
          </a:ln>
        </p:spPr>
      </p:sp>
      <p:sp>
        <p:nvSpPr>
          <p:cNvPr id="41" name="Text 17">
            <a:extLst>
              <a:ext uri="{FF2B5EF4-FFF2-40B4-BE49-F238E27FC236}">
                <a16:creationId xmlns:a16="http://schemas.microsoft.com/office/drawing/2014/main" id="{AE22C854-9EB7-8C00-13BC-E57AF4D9D6D5}"/>
              </a:ext>
            </a:extLst>
          </p:cNvPr>
          <p:cNvSpPr txBox="1"/>
          <p:nvPr/>
        </p:nvSpPr>
        <p:spPr>
          <a:xfrm>
            <a:off x="7040880" y="4206240"/>
            <a:ext cx="914400" cy="502920"/>
          </a:xfrm>
          <a:prstGeom prst="rect">
            <a:avLst/>
          </a:prstGeom>
          <a:noFill/>
          <a:ln/>
        </p:spPr>
        <p:txBody>
          <a:bodyPr wrap="square" lIns="381" tIns="381" rIns="381" bIns="381"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Agent 5</a:t>
            </a:r>
            <a:endParaRPr lang="en-US" sz="1100" dirty="0"/>
          </a:p>
        </p:txBody>
      </p:sp>
      <p:sp>
        <p:nvSpPr>
          <p:cNvPr id="43" name="Shape 18">
            <a:extLst>
              <a:ext uri="{FF2B5EF4-FFF2-40B4-BE49-F238E27FC236}">
                <a16:creationId xmlns:a16="http://schemas.microsoft.com/office/drawing/2014/main" id="{4208123F-EA6E-370B-7087-8462C27A432B}"/>
              </a:ext>
            </a:extLst>
          </p:cNvPr>
          <p:cNvSpPr/>
          <p:nvPr/>
        </p:nvSpPr>
        <p:spPr>
          <a:xfrm>
            <a:off x="3291840" y="2880360"/>
            <a:ext cx="2560320" cy="822960"/>
          </a:xfrm>
          <a:prstGeom prst="roundRect">
            <a:avLst>
              <a:gd name="adj" fmla="val 6667"/>
            </a:avLst>
          </a:prstGeom>
          <a:solidFill>
            <a:srgbClr val="12335F"/>
          </a:solidFill>
          <a:ln w="12700">
            <a:solidFill>
              <a:srgbClr val="00B8D9"/>
            </a:solidFill>
            <a:prstDash val="solid"/>
          </a:ln>
        </p:spPr>
      </p:sp>
      <p:sp>
        <p:nvSpPr>
          <p:cNvPr id="45" name="Text 19">
            <a:extLst>
              <a:ext uri="{FF2B5EF4-FFF2-40B4-BE49-F238E27FC236}">
                <a16:creationId xmlns:a16="http://schemas.microsoft.com/office/drawing/2014/main" id="{12765EFC-370A-69E0-42B3-7ADA999967C4}"/>
              </a:ext>
            </a:extLst>
          </p:cNvPr>
          <p:cNvSpPr txBox="1"/>
          <p:nvPr/>
        </p:nvSpPr>
        <p:spPr>
          <a:xfrm>
            <a:off x="3291840" y="2880360"/>
            <a:ext cx="2560320" cy="822960"/>
          </a:xfrm>
          <a:prstGeom prst="rect">
            <a:avLst/>
          </a:prstGeom>
          <a:noFill/>
          <a:ln/>
        </p:spPr>
        <p:txBody>
          <a:bodyPr wrap="square" lIns="762" tIns="762" rIns="762" bIns="762"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FedAvg aggregation server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(model updates, not raw data)</a:t>
            </a:r>
            <a:endParaRPr lang="en-US" sz="1100" dirty="0"/>
          </a:p>
        </p:txBody>
      </p:sp>
      <p:sp>
        <p:nvSpPr>
          <p:cNvPr id="47" name="Text 20">
            <a:extLst>
              <a:ext uri="{FF2B5EF4-FFF2-40B4-BE49-F238E27FC236}">
                <a16:creationId xmlns:a16="http://schemas.microsoft.com/office/drawing/2014/main" id="{75398DA0-6C1F-DA21-C78C-CC02881A8257}"/>
              </a:ext>
            </a:extLst>
          </p:cNvPr>
          <p:cNvSpPr txBox="1"/>
          <p:nvPr/>
        </p:nvSpPr>
        <p:spPr>
          <a:xfrm>
            <a:off x="457200" y="4754880"/>
            <a:ext cx="8229600" cy="274320"/>
          </a:xfrm>
          <a:prstGeom prst="rect">
            <a:avLst/>
          </a:prstGeom>
          <a:noFill/>
          <a:ln/>
        </p:spPr>
        <p:txBody>
          <a:bodyPr wrap="square" lIns="381" tIns="381" rIns="381" bIns="381"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5 wireless devices  |  3 channel choices  |  privacy-aware learning</a:t>
            </a:r>
            <a:endParaRPr lang="en-US" sz="1000" dirty="0"/>
          </a:p>
        </p:txBody>
      </p:sp>
      <p:sp>
        <p:nvSpPr>
          <p:cNvPr id="49" name="Rectangle 3">
            <a:extLst>
              <a:ext uri="{FF2B5EF4-FFF2-40B4-BE49-F238E27FC236}">
                <a16:creationId xmlns:a16="http://schemas.microsoft.com/office/drawing/2014/main" id="{41948499-A581-D8B7-CEE5-F3E52DBA97B2}"/>
              </a:ext>
            </a:extLst>
          </p:cNvPr>
          <p:cNvSpPr>
            <a:spLocks noChangeArrowheads="1"/>
          </p:cNvSpPr>
          <p:nvPr/>
        </p:nvSpPr>
        <p:spPr bwMode="auto">
          <a:xfrm>
            <a:off x="305710" y="1673464"/>
            <a:ext cx="505785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A.Y.: 2026-27</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by</a:t>
            </a:r>
            <a:endParaRPr kumimoji="0" lang="en-US" altLang="en-US" sz="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K. Harshit		                      Roll no: 2520040035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N. Karthik Ram Prasad		                   Roll NO: 2520040046</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M. Tirumala Teja		               Roll No:2520049126</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Under the Esteemed guidance of</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ea typeface="MS Mincho" panose="02020609040205080304" pitchFamily="49" charset="-128"/>
                <a:cs typeface="Calibri" panose="020F0502020204030204" pitchFamily="34" charset="0"/>
              </a:rPr>
              <a:t>Dr. Vinnakota Venu Balaji assistant </a:t>
            </a: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Professor,</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Department of ECE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4">
            <a:extLst>
              <a:ext uri="{FF2B5EF4-FFF2-40B4-BE49-F238E27FC236}">
                <a16:creationId xmlns:a16="http://schemas.microsoft.com/office/drawing/2014/main" id="{E0740B3D-2373-ADCD-3052-C4229A5E15B1}"/>
              </a:ext>
            </a:extLst>
          </p:cNvPr>
          <p:cNvSpPr>
            <a:spLocks noChangeArrowheads="1"/>
          </p:cNvSpPr>
          <p:nvPr/>
        </p:nvSpPr>
        <p:spPr bwMode="auto">
          <a:xfrm>
            <a:off x="464820" y="339058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3" name="Rectangle 5">
            <a:extLst>
              <a:ext uri="{FF2B5EF4-FFF2-40B4-BE49-F238E27FC236}">
                <a16:creationId xmlns:a16="http://schemas.microsoft.com/office/drawing/2014/main" id="{E54E1FE2-C747-FD5C-DC50-1D4D277C4EA5}"/>
              </a:ext>
            </a:extLst>
          </p:cNvPr>
          <p:cNvSpPr>
            <a:spLocks noChangeArrowheads="1"/>
          </p:cNvSpPr>
          <p:nvPr/>
        </p:nvSpPr>
        <p:spPr bwMode="auto">
          <a:xfrm>
            <a:off x="464820" y="388588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39725" algn="l"/>
              </a:tabLst>
              <a:defRPr>
                <a:solidFill>
                  <a:schemeClr val="tx1"/>
                </a:solidFill>
                <a:latin typeface="Arial" panose="020B0604020202020204" pitchFamily="34" charset="0"/>
              </a:defRPr>
            </a:lvl1pPr>
            <a:lvl2pPr eaLnBrk="0" fontAlgn="base" hangingPunct="0">
              <a:spcBef>
                <a:spcPct val="0"/>
              </a:spcBef>
              <a:spcAft>
                <a:spcPct val="0"/>
              </a:spcAft>
              <a:tabLst>
                <a:tab pos="339725" algn="l"/>
              </a:tabLst>
              <a:defRPr>
                <a:solidFill>
                  <a:schemeClr val="tx1"/>
                </a:solidFill>
                <a:latin typeface="Arial" panose="020B0604020202020204" pitchFamily="34" charset="0"/>
              </a:defRPr>
            </a:lvl2pPr>
            <a:lvl3pPr eaLnBrk="0" fontAlgn="base" hangingPunct="0">
              <a:spcBef>
                <a:spcPct val="0"/>
              </a:spcBef>
              <a:spcAft>
                <a:spcPct val="0"/>
              </a:spcAft>
              <a:tabLst>
                <a:tab pos="339725" algn="l"/>
              </a:tabLst>
              <a:defRPr>
                <a:solidFill>
                  <a:schemeClr val="tx1"/>
                </a:solidFill>
                <a:latin typeface="Arial" panose="020B0604020202020204" pitchFamily="34" charset="0"/>
              </a:defRPr>
            </a:lvl3pPr>
            <a:lvl4pPr eaLnBrk="0" fontAlgn="base" hangingPunct="0">
              <a:spcBef>
                <a:spcPct val="0"/>
              </a:spcBef>
              <a:spcAft>
                <a:spcPct val="0"/>
              </a:spcAft>
              <a:tabLst>
                <a:tab pos="339725" algn="l"/>
              </a:tabLst>
              <a:defRPr>
                <a:solidFill>
                  <a:schemeClr val="tx1"/>
                </a:solidFill>
                <a:latin typeface="Arial" panose="020B0604020202020204" pitchFamily="34" charset="0"/>
              </a:defRPr>
            </a:lvl4pPr>
            <a:lvl5pPr eaLnBrk="0" fontAlgn="base" hangingPunct="0">
              <a:spcBef>
                <a:spcPct val="0"/>
              </a:spcBef>
              <a:spcAft>
                <a:spcPct val="0"/>
              </a:spcAft>
              <a:tabLst>
                <a:tab pos="339725" algn="l"/>
              </a:tabLst>
              <a:defRPr>
                <a:solidFill>
                  <a:schemeClr val="tx1"/>
                </a:solidFill>
                <a:latin typeface="Arial" panose="020B0604020202020204" pitchFamily="34" charset="0"/>
              </a:defRPr>
            </a:lvl5pPr>
            <a:lvl6pPr eaLnBrk="0" fontAlgn="base" hangingPunct="0">
              <a:spcBef>
                <a:spcPct val="0"/>
              </a:spcBef>
              <a:spcAft>
                <a:spcPct val="0"/>
              </a:spcAft>
              <a:tabLst>
                <a:tab pos="339725" algn="l"/>
              </a:tabLst>
              <a:defRPr>
                <a:solidFill>
                  <a:schemeClr val="tx1"/>
                </a:solidFill>
                <a:latin typeface="Arial" panose="020B0604020202020204" pitchFamily="34" charset="0"/>
              </a:defRPr>
            </a:lvl6pPr>
            <a:lvl7pPr eaLnBrk="0" fontAlgn="base" hangingPunct="0">
              <a:spcBef>
                <a:spcPct val="0"/>
              </a:spcBef>
              <a:spcAft>
                <a:spcPct val="0"/>
              </a:spcAft>
              <a:tabLst>
                <a:tab pos="339725" algn="l"/>
              </a:tabLst>
              <a:defRPr>
                <a:solidFill>
                  <a:schemeClr val="tx1"/>
                </a:solidFill>
                <a:latin typeface="Arial" panose="020B0604020202020204" pitchFamily="34" charset="0"/>
              </a:defRPr>
            </a:lvl7pPr>
            <a:lvl8pPr eaLnBrk="0" fontAlgn="base" hangingPunct="0">
              <a:spcBef>
                <a:spcPct val="0"/>
              </a:spcBef>
              <a:spcAft>
                <a:spcPct val="0"/>
              </a:spcAft>
              <a:tabLst>
                <a:tab pos="339725" algn="l"/>
              </a:tabLst>
              <a:defRPr>
                <a:solidFill>
                  <a:schemeClr val="tx1"/>
                </a:solidFill>
                <a:latin typeface="Arial" panose="020B0604020202020204" pitchFamily="34" charset="0"/>
              </a:defRPr>
            </a:lvl8pPr>
            <a:lvl9pPr eaLnBrk="0" fontAlgn="base" hangingPunct="0">
              <a:spcBef>
                <a:spcPct val="0"/>
              </a:spcBef>
              <a:spcAft>
                <a:spcPct val="0"/>
              </a:spcAft>
              <a:tabLst>
                <a:tab pos="3397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39725" algn="l"/>
              </a:tabLst>
            </a:pPr>
            <a:r>
              <a:rPr kumimoji="0" lang="en-US" altLang="en-US" sz="1200" b="0" i="0" u="none" strike="noStrike" cap="none" normalizeH="0" baseline="0">
                <a:ln>
                  <a:noFill/>
                </a:ln>
                <a:solidFill>
                  <a:schemeClr val="tx1"/>
                </a:solidFill>
                <a:effectLst/>
                <a:latin typeface="Calibri" panose="020F0502020204030204" pitchFamily="34" charset="0"/>
                <a:ea typeface="MS Mincho" panose="02020609040205080304" pitchFamily="49" charset="-128"/>
                <a:cs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5204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and Motivation</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2 / 10</a:t>
            </a:r>
            <a:endParaRPr lang="en-US" sz="900" dirty="0"/>
          </a:p>
        </p:txBody>
      </p:sp>
      <p:sp>
        <p:nvSpPr>
          <p:cNvPr id="6" name="Text 3"/>
          <p:cNvSpPr txBox="1"/>
          <p:nvPr/>
        </p:nvSpPr>
        <p:spPr>
          <a:xfrm>
            <a:off x="365760" y="914400"/>
            <a:ext cx="4754880" cy="3566160"/>
          </a:xfrm>
          <a:prstGeom prst="rect">
            <a:avLst/>
          </a:prstGeom>
          <a:noFill/>
          <a:ln/>
        </p:spPr>
        <p:txBody>
          <a:bodyPr wrap="square" lIns="381" tIns="381" rIns="381" bIns="381" rtlCol="0" anchor="t"/>
          <a:lstStyle/>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Devices compete for limited channels: poor allocation causes interference, collisions, latency and low throughput</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Centralized learning needs device data gathered at one point</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Independent agents learn alone and gain nothing from peers</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Federated learning aggregates local model updates (FedAvg)</a:t>
            </a:r>
            <a:endParaRPr lang="en-US" sz="1400" dirty="0"/>
          </a:p>
          <a:p>
            <a:pPr marL="342900" indent="-342900">
              <a:spcAft>
                <a:spcPts val="800"/>
              </a:spcAft>
              <a:buSzPct val="100000"/>
              <a:buChar char="•"/>
            </a:pPr>
            <a:r>
              <a:rPr lang="en-US" sz="1400" dirty="0">
                <a:solidFill>
                  <a:srgbClr val="0B1F3A"/>
                </a:solidFill>
                <a:latin typeface="Calibri" pitchFamily="34" charset="0"/>
                <a:ea typeface="Calibri" pitchFamily="34" charset="-122"/>
                <a:cs typeface="Calibri" pitchFamily="34" charset="-120"/>
              </a:rPr>
              <a:t>Differential privacy can add protection, usually with a performance cost</a:t>
            </a:r>
            <a:endParaRPr lang="en-US" sz="1400" dirty="0"/>
          </a:p>
        </p:txBody>
      </p:sp>
      <p:sp>
        <p:nvSpPr>
          <p:cNvPr id="7" name="Shape 4"/>
          <p:cNvSpPr/>
          <p:nvPr/>
        </p:nvSpPr>
        <p:spPr>
          <a:xfrm>
            <a:off x="5394960" y="914400"/>
            <a:ext cx="3474720" cy="1737360"/>
          </a:xfrm>
          <a:prstGeom prst="roundRect">
            <a:avLst>
              <a:gd name="adj" fmla="val 3158"/>
            </a:avLst>
          </a:prstGeom>
          <a:solidFill>
            <a:srgbClr val="0B1F3A"/>
          </a:solidFill>
          <a:ln w="12700">
            <a:solidFill>
              <a:srgbClr val="0B1F3A"/>
            </a:solidFill>
            <a:prstDash val="solid"/>
          </a:ln>
        </p:spPr>
      </p:sp>
      <p:sp>
        <p:nvSpPr>
          <p:cNvPr id="8" name="Text 5"/>
          <p:cNvSpPr txBox="1"/>
          <p:nvPr/>
        </p:nvSpPr>
        <p:spPr>
          <a:xfrm>
            <a:off x="5394960" y="914400"/>
            <a:ext cx="3474720" cy="1737360"/>
          </a:xfrm>
          <a:prstGeom prst="rect">
            <a:avLst/>
          </a:prstGeom>
          <a:noFill/>
          <a:ln/>
        </p:spPr>
        <p:txBody>
          <a:bodyPr wrap="square" lIns="762" tIns="762" rIns="762" bIns="762"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Problem statement</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How can distributed wireless agents learn good channel-allocation policies while limiting raw-data sharing, and what does this cost in wireless performance?</a:t>
            </a:r>
            <a:endParaRPr lang="en-US" sz="1200" dirty="0"/>
          </a:p>
        </p:txBody>
      </p:sp>
      <p:sp>
        <p:nvSpPr>
          <p:cNvPr id="9" name="Shape 6"/>
          <p:cNvSpPr/>
          <p:nvPr/>
        </p:nvSpPr>
        <p:spPr>
          <a:xfrm>
            <a:off x="5394960" y="2834640"/>
            <a:ext cx="3474720" cy="1554480"/>
          </a:xfrm>
          <a:prstGeom prst="roundRect">
            <a:avLst>
              <a:gd name="adj" fmla="val 3529"/>
            </a:avLst>
          </a:prstGeom>
          <a:solidFill>
            <a:srgbClr val="EAF3FB"/>
          </a:solidFill>
          <a:ln w="12700">
            <a:solidFill>
              <a:srgbClr val="1565C0"/>
            </a:solidFill>
            <a:prstDash val="solid"/>
          </a:ln>
        </p:spPr>
      </p:sp>
      <p:sp>
        <p:nvSpPr>
          <p:cNvPr id="10" name="Text 7"/>
          <p:cNvSpPr txBox="1"/>
          <p:nvPr/>
        </p:nvSpPr>
        <p:spPr>
          <a:xfrm>
            <a:off x="5394960" y="2834640"/>
            <a:ext cx="3474720" cy="1554480"/>
          </a:xfrm>
          <a:prstGeom prst="rect">
            <a:avLst/>
          </a:prstGeom>
          <a:noFill/>
          <a:ln/>
        </p:spPr>
        <p:txBody>
          <a:bodyPr wrap="square" lIns="762" tIns="762" rIns="762" bIns="762" rtlCol="0" anchor="ctr"/>
          <a:lstStyle/>
          <a:p>
            <a:pPr marL="0" indent="0" algn="ctr">
              <a:buNone/>
            </a:pPr>
            <a:r>
              <a:rPr lang="en-US" sz="1200" dirty="0">
                <a:solidFill>
                  <a:srgbClr val="0B1F3A"/>
                </a:solidFill>
                <a:latin typeface="Calibri" pitchFamily="34" charset="0"/>
                <a:ea typeface="Calibri" pitchFamily="34" charset="-122"/>
                <a:cs typeface="Calibri" pitchFamily="34" charset="-120"/>
              </a:rPr>
              <a:t>Research gap</a:t>
            </a:r>
            <a:endParaRPr lang="en-US" sz="1200" dirty="0"/>
          </a:p>
          <a:p>
            <a:pPr marL="0" indent="0" algn="ctr">
              <a:buNone/>
            </a:pPr>
            <a:r>
              <a:rPr lang="en-US" sz="1200" dirty="0">
                <a:solidFill>
                  <a:srgbClr val="0B1F3A"/>
                </a:solidFill>
                <a:latin typeface="Calibri" pitchFamily="34" charset="0"/>
                <a:ea typeface="Calibri" pitchFamily="34" charset="-122"/>
                <a:cs typeface="Calibri" pitchFamily="34" charset="-120"/>
              </a:rPr>
              <a:t>The joint trade-off between wireless metrics, communication overhead and privacy is rarely compared across centralized, independent, federated and DP-federated learning.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Objectives and Proposed Contributions</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3 / 10</a:t>
            </a:r>
            <a:endParaRPr lang="en-US" sz="900" dirty="0"/>
          </a:p>
        </p:txBody>
      </p:sp>
      <p:sp>
        <p:nvSpPr>
          <p:cNvPr id="6" name="Shape 3"/>
          <p:cNvSpPr/>
          <p:nvPr/>
        </p:nvSpPr>
        <p:spPr>
          <a:xfrm>
            <a:off x="365760" y="1097280"/>
            <a:ext cx="548640" cy="548640"/>
          </a:xfrm>
          <a:prstGeom prst="ellipse">
            <a:avLst/>
          </a:prstGeom>
          <a:solidFill>
            <a:srgbClr val="00B8D9"/>
          </a:solidFill>
          <a:ln w="12700">
            <a:solidFill>
              <a:srgbClr val="00B8D9"/>
            </a:solidFill>
            <a:prstDash val="solid"/>
          </a:ln>
        </p:spPr>
      </p:sp>
      <p:sp>
        <p:nvSpPr>
          <p:cNvPr id="7" name="Text 4"/>
          <p:cNvSpPr txBox="1"/>
          <p:nvPr/>
        </p:nvSpPr>
        <p:spPr>
          <a:xfrm>
            <a:off x="365760" y="109728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8" name="Shape 5"/>
          <p:cNvSpPr/>
          <p:nvPr/>
        </p:nvSpPr>
        <p:spPr>
          <a:xfrm>
            <a:off x="1051560" y="914400"/>
            <a:ext cx="3429000" cy="1097280"/>
          </a:xfrm>
          <a:prstGeom prst="roundRect">
            <a:avLst>
              <a:gd name="adj" fmla="val 5000"/>
            </a:avLst>
          </a:prstGeom>
          <a:solidFill>
            <a:srgbClr val="EAF3FB"/>
          </a:solidFill>
          <a:ln w="12700">
            <a:solidFill>
              <a:srgbClr val="1565C0"/>
            </a:solidFill>
            <a:prstDash val="solid"/>
          </a:ln>
        </p:spPr>
      </p:sp>
      <p:sp>
        <p:nvSpPr>
          <p:cNvPr id="9" name="Text 6"/>
          <p:cNvSpPr txBox="1"/>
          <p:nvPr/>
        </p:nvSpPr>
        <p:spPr>
          <a:xfrm>
            <a:off x="1051560" y="91440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Build a Python-based wireless resource-management simulation</a:t>
            </a:r>
            <a:endParaRPr lang="en-US" sz="1200" dirty="0"/>
          </a:p>
        </p:txBody>
      </p:sp>
      <p:sp>
        <p:nvSpPr>
          <p:cNvPr id="10" name="Shape 7"/>
          <p:cNvSpPr/>
          <p:nvPr/>
        </p:nvSpPr>
        <p:spPr>
          <a:xfrm>
            <a:off x="4663440" y="1097280"/>
            <a:ext cx="548640" cy="548640"/>
          </a:xfrm>
          <a:prstGeom prst="ellipse">
            <a:avLst/>
          </a:prstGeom>
          <a:solidFill>
            <a:srgbClr val="00B8D9"/>
          </a:solidFill>
          <a:ln w="12700">
            <a:solidFill>
              <a:srgbClr val="00B8D9"/>
            </a:solidFill>
            <a:prstDash val="solid"/>
          </a:ln>
        </p:spPr>
      </p:sp>
      <p:sp>
        <p:nvSpPr>
          <p:cNvPr id="11" name="Text 8"/>
          <p:cNvSpPr txBox="1"/>
          <p:nvPr/>
        </p:nvSpPr>
        <p:spPr>
          <a:xfrm>
            <a:off x="4663440" y="109728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2" name="Shape 9"/>
          <p:cNvSpPr/>
          <p:nvPr/>
        </p:nvSpPr>
        <p:spPr>
          <a:xfrm>
            <a:off x="5349240" y="914400"/>
            <a:ext cx="3429000" cy="1097280"/>
          </a:xfrm>
          <a:prstGeom prst="roundRect">
            <a:avLst>
              <a:gd name="adj" fmla="val 5000"/>
            </a:avLst>
          </a:prstGeom>
          <a:solidFill>
            <a:srgbClr val="EAF3FB"/>
          </a:solidFill>
          <a:ln w="12700">
            <a:solidFill>
              <a:srgbClr val="1565C0"/>
            </a:solidFill>
            <a:prstDash val="solid"/>
          </a:ln>
        </p:spPr>
      </p:sp>
      <p:sp>
        <p:nvSpPr>
          <p:cNvPr id="13" name="Text 10"/>
          <p:cNvSpPr txBox="1"/>
          <p:nvPr/>
        </p:nvSpPr>
        <p:spPr>
          <a:xfrm>
            <a:off x="5349240" y="91440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Model five agents and three channel choices (to be confirmed against code)</a:t>
            </a:r>
            <a:endParaRPr lang="en-US" sz="1200" dirty="0"/>
          </a:p>
        </p:txBody>
      </p:sp>
      <p:sp>
        <p:nvSpPr>
          <p:cNvPr id="14" name="Shape 11"/>
          <p:cNvSpPr/>
          <p:nvPr/>
        </p:nvSpPr>
        <p:spPr>
          <a:xfrm>
            <a:off x="365760" y="2377440"/>
            <a:ext cx="548640" cy="548640"/>
          </a:xfrm>
          <a:prstGeom prst="ellipse">
            <a:avLst/>
          </a:prstGeom>
          <a:solidFill>
            <a:srgbClr val="00B8D9"/>
          </a:solidFill>
          <a:ln w="12700">
            <a:solidFill>
              <a:srgbClr val="00B8D9"/>
            </a:solidFill>
            <a:prstDash val="solid"/>
          </a:ln>
        </p:spPr>
      </p:sp>
      <p:sp>
        <p:nvSpPr>
          <p:cNvPr id="15" name="Text 12"/>
          <p:cNvSpPr txBox="1"/>
          <p:nvPr/>
        </p:nvSpPr>
        <p:spPr>
          <a:xfrm>
            <a:off x="365760" y="237744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16" name="Shape 13"/>
          <p:cNvSpPr/>
          <p:nvPr/>
        </p:nvSpPr>
        <p:spPr>
          <a:xfrm>
            <a:off x="1051560" y="2194560"/>
            <a:ext cx="3429000" cy="1097280"/>
          </a:xfrm>
          <a:prstGeom prst="roundRect">
            <a:avLst>
              <a:gd name="adj" fmla="val 5000"/>
            </a:avLst>
          </a:prstGeom>
          <a:solidFill>
            <a:srgbClr val="EAF3FB"/>
          </a:solidFill>
          <a:ln w="12700">
            <a:solidFill>
              <a:srgbClr val="1565C0"/>
            </a:solidFill>
            <a:prstDash val="solid"/>
          </a:ln>
        </p:spPr>
      </p:sp>
      <p:sp>
        <p:nvSpPr>
          <p:cNvPr id="17" name="Text 14"/>
          <p:cNvSpPr txBox="1"/>
          <p:nvPr/>
        </p:nvSpPr>
        <p:spPr>
          <a:xfrm>
            <a:off x="1051560" y="219456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Compare centralized DQN, independent MARL, federated MARL and DP-federated MARL</a:t>
            </a:r>
            <a:endParaRPr lang="en-US" sz="1200" dirty="0"/>
          </a:p>
        </p:txBody>
      </p:sp>
      <p:sp>
        <p:nvSpPr>
          <p:cNvPr id="18" name="Shape 15"/>
          <p:cNvSpPr/>
          <p:nvPr/>
        </p:nvSpPr>
        <p:spPr>
          <a:xfrm>
            <a:off x="4663440" y="2377440"/>
            <a:ext cx="548640" cy="548640"/>
          </a:xfrm>
          <a:prstGeom prst="ellipse">
            <a:avLst/>
          </a:prstGeom>
          <a:solidFill>
            <a:srgbClr val="00B8D9"/>
          </a:solidFill>
          <a:ln w="12700">
            <a:solidFill>
              <a:srgbClr val="00B8D9"/>
            </a:solidFill>
            <a:prstDash val="solid"/>
          </a:ln>
        </p:spPr>
      </p:sp>
      <p:sp>
        <p:nvSpPr>
          <p:cNvPr id="19" name="Text 16"/>
          <p:cNvSpPr txBox="1"/>
          <p:nvPr/>
        </p:nvSpPr>
        <p:spPr>
          <a:xfrm>
            <a:off x="4663440" y="237744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0" name="Shape 17"/>
          <p:cNvSpPr/>
          <p:nvPr/>
        </p:nvSpPr>
        <p:spPr>
          <a:xfrm>
            <a:off x="5349240" y="2194560"/>
            <a:ext cx="3429000" cy="1097280"/>
          </a:xfrm>
          <a:prstGeom prst="roundRect">
            <a:avLst>
              <a:gd name="adj" fmla="val 5000"/>
            </a:avLst>
          </a:prstGeom>
          <a:solidFill>
            <a:srgbClr val="EAF3FB"/>
          </a:solidFill>
          <a:ln w="12700">
            <a:solidFill>
              <a:srgbClr val="1565C0"/>
            </a:solidFill>
            <a:prstDash val="solid"/>
          </a:ln>
        </p:spPr>
      </p:sp>
      <p:sp>
        <p:nvSpPr>
          <p:cNvPr id="21" name="Text 18"/>
          <p:cNvSpPr txBox="1"/>
          <p:nvPr/>
        </p:nvSpPr>
        <p:spPr>
          <a:xfrm>
            <a:off x="5349240" y="219456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Evaluate with wireless metrics: throughput, goodput, spectral efficiency, latency, BER/PER/PDR, collisions, fairness</a:t>
            </a:r>
            <a:endParaRPr lang="en-US" sz="1200" dirty="0"/>
          </a:p>
        </p:txBody>
      </p:sp>
      <p:sp>
        <p:nvSpPr>
          <p:cNvPr id="22" name="Shape 19"/>
          <p:cNvSpPr/>
          <p:nvPr/>
        </p:nvSpPr>
        <p:spPr>
          <a:xfrm>
            <a:off x="365760" y="3657600"/>
            <a:ext cx="548640" cy="548640"/>
          </a:xfrm>
          <a:prstGeom prst="ellipse">
            <a:avLst/>
          </a:prstGeom>
          <a:solidFill>
            <a:srgbClr val="00B8D9"/>
          </a:solidFill>
          <a:ln w="12700">
            <a:solidFill>
              <a:srgbClr val="00B8D9"/>
            </a:solidFill>
            <a:prstDash val="solid"/>
          </a:ln>
        </p:spPr>
      </p:sp>
      <p:sp>
        <p:nvSpPr>
          <p:cNvPr id="23" name="Text 20"/>
          <p:cNvSpPr txBox="1"/>
          <p:nvPr/>
        </p:nvSpPr>
        <p:spPr>
          <a:xfrm>
            <a:off x="365760" y="365760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5</a:t>
            </a:r>
            <a:endParaRPr lang="en-US" sz="1800" dirty="0"/>
          </a:p>
        </p:txBody>
      </p:sp>
      <p:sp>
        <p:nvSpPr>
          <p:cNvPr id="24" name="Shape 21"/>
          <p:cNvSpPr/>
          <p:nvPr/>
        </p:nvSpPr>
        <p:spPr>
          <a:xfrm>
            <a:off x="1051560" y="3474720"/>
            <a:ext cx="3429000" cy="1097280"/>
          </a:xfrm>
          <a:prstGeom prst="roundRect">
            <a:avLst>
              <a:gd name="adj" fmla="val 5000"/>
            </a:avLst>
          </a:prstGeom>
          <a:solidFill>
            <a:srgbClr val="EAF3FB"/>
          </a:solidFill>
          <a:ln w="12700">
            <a:solidFill>
              <a:srgbClr val="1565C0"/>
            </a:solidFill>
            <a:prstDash val="solid"/>
          </a:ln>
        </p:spPr>
      </p:sp>
      <p:sp>
        <p:nvSpPr>
          <p:cNvPr id="25" name="Text 22"/>
          <p:cNvSpPr txBox="1"/>
          <p:nvPr/>
        </p:nvSpPr>
        <p:spPr>
          <a:xfrm>
            <a:off x="1051560" y="347472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Study privacy and communication overhead alongside network performance</a:t>
            </a:r>
            <a:endParaRPr lang="en-US" sz="1200" dirty="0"/>
          </a:p>
        </p:txBody>
      </p:sp>
      <p:sp>
        <p:nvSpPr>
          <p:cNvPr id="26" name="Shape 23"/>
          <p:cNvSpPr/>
          <p:nvPr/>
        </p:nvSpPr>
        <p:spPr>
          <a:xfrm>
            <a:off x="4663440" y="3657600"/>
            <a:ext cx="548640" cy="548640"/>
          </a:xfrm>
          <a:prstGeom prst="ellipse">
            <a:avLst/>
          </a:prstGeom>
          <a:solidFill>
            <a:srgbClr val="00B8D9"/>
          </a:solidFill>
          <a:ln w="12700">
            <a:solidFill>
              <a:srgbClr val="00B8D9"/>
            </a:solidFill>
            <a:prstDash val="solid"/>
          </a:ln>
        </p:spPr>
      </p:sp>
      <p:sp>
        <p:nvSpPr>
          <p:cNvPr id="27" name="Text 24"/>
          <p:cNvSpPr txBox="1"/>
          <p:nvPr/>
        </p:nvSpPr>
        <p:spPr>
          <a:xfrm>
            <a:off x="4663440" y="3657600"/>
            <a:ext cx="548640" cy="548640"/>
          </a:xfrm>
          <a:prstGeom prst="rect">
            <a:avLst/>
          </a:prstGeom>
          <a:noFill/>
          <a:ln/>
        </p:spPr>
        <p:txBody>
          <a:bodyPr wrap="square" lIns="381" tIns="381" rIns="381" bIns="381"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6</a:t>
            </a:r>
            <a:endParaRPr lang="en-US" sz="1800" dirty="0"/>
          </a:p>
        </p:txBody>
      </p:sp>
      <p:sp>
        <p:nvSpPr>
          <p:cNvPr id="28" name="Shape 25"/>
          <p:cNvSpPr/>
          <p:nvPr/>
        </p:nvSpPr>
        <p:spPr>
          <a:xfrm>
            <a:off x="5349240" y="3474720"/>
            <a:ext cx="3429000" cy="1097280"/>
          </a:xfrm>
          <a:prstGeom prst="roundRect">
            <a:avLst>
              <a:gd name="adj" fmla="val 5000"/>
            </a:avLst>
          </a:prstGeom>
          <a:solidFill>
            <a:srgbClr val="EAF3FB"/>
          </a:solidFill>
          <a:ln w="12700">
            <a:solidFill>
              <a:srgbClr val="1565C0"/>
            </a:solidFill>
            <a:prstDash val="solid"/>
          </a:ln>
        </p:spPr>
      </p:sp>
      <p:sp>
        <p:nvSpPr>
          <p:cNvPr id="29" name="Text 26"/>
          <p:cNvSpPr txBox="1"/>
          <p:nvPr/>
        </p:nvSpPr>
        <p:spPr>
          <a:xfrm>
            <a:off x="5349240" y="3474720"/>
            <a:ext cx="3429000" cy="109728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Identify limitations and directions for improvement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System Model and Feature Engineering</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4 / 10</a:t>
            </a:r>
            <a:endParaRPr lang="en-US" sz="900" dirty="0"/>
          </a:p>
        </p:txBody>
      </p:sp>
      <p:sp>
        <p:nvSpPr>
          <p:cNvPr id="6" name="Shape 3"/>
          <p:cNvSpPr/>
          <p:nvPr/>
        </p:nvSpPr>
        <p:spPr>
          <a:xfrm>
            <a:off x="320040" y="868680"/>
            <a:ext cx="1828800" cy="868680"/>
          </a:xfrm>
          <a:prstGeom prst="roundRect">
            <a:avLst>
              <a:gd name="adj" fmla="val 6316"/>
            </a:avLst>
          </a:prstGeom>
          <a:solidFill>
            <a:srgbClr val="0B1F3A"/>
          </a:solidFill>
          <a:ln w="12700">
            <a:solidFill>
              <a:srgbClr val="0B1F3A"/>
            </a:solidFill>
            <a:prstDash val="solid"/>
          </a:ln>
        </p:spPr>
      </p:sp>
      <p:sp>
        <p:nvSpPr>
          <p:cNvPr id="7" name="Text 4"/>
          <p:cNvSpPr txBox="1"/>
          <p:nvPr/>
        </p:nvSpPr>
        <p:spPr>
          <a:xfrm>
            <a:off x="320040" y="868680"/>
            <a:ext cx="1828800" cy="868680"/>
          </a:xfrm>
          <a:prstGeom prst="rect">
            <a:avLst/>
          </a:prstGeom>
          <a:noFill/>
          <a:ln/>
        </p:spPr>
        <p:txBody>
          <a:bodyPr wrap="square" lIns="762" tIns="762" rIns="762" bIns="762"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Dataset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data/augmented_dataset_ready.csv</a:t>
            </a:r>
            <a:endParaRPr lang="en-US" sz="1100" dirty="0"/>
          </a:p>
        </p:txBody>
      </p:sp>
      <p:sp>
        <p:nvSpPr>
          <p:cNvPr id="8" name="Shape 5"/>
          <p:cNvSpPr/>
          <p:nvPr/>
        </p:nvSpPr>
        <p:spPr>
          <a:xfrm>
            <a:off x="2148840" y="1298448"/>
            <a:ext cx="365760" cy="0"/>
          </a:xfrm>
          <a:prstGeom prst="line">
            <a:avLst/>
          </a:prstGeom>
          <a:noFill/>
          <a:ln w="22225">
            <a:solidFill>
              <a:srgbClr val="1565C0"/>
            </a:solidFill>
            <a:prstDash val="solid"/>
            <a:tailEnd type="triangle"/>
          </a:ln>
        </p:spPr>
      </p:sp>
      <p:sp>
        <p:nvSpPr>
          <p:cNvPr id="9" name="Shape 6"/>
          <p:cNvSpPr/>
          <p:nvPr/>
        </p:nvSpPr>
        <p:spPr>
          <a:xfrm>
            <a:off x="2514600" y="868680"/>
            <a:ext cx="1828800" cy="868680"/>
          </a:xfrm>
          <a:prstGeom prst="roundRect">
            <a:avLst>
              <a:gd name="adj" fmla="val 6316"/>
            </a:avLst>
          </a:prstGeom>
          <a:solidFill>
            <a:srgbClr val="EAF3FB"/>
          </a:solidFill>
          <a:ln w="12700">
            <a:solidFill>
              <a:srgbClr val="1565C0"/>
            </a:solidFill>
            <a:prstDash val="solid"/>
          </a:ln>
        </p:spPr>
      </p:sp>
      <p:sp>
        <p:nvSpPr>
          <p:cNvPr id="10" name="Text 7"/>
          <p:cNvSpPr txBox="1"/>
          <p:nvPr/>
        </p:nvSpPr>
        <p:spPr>
          <a:xfrm>
            <a:off x="2514600" y="868680"/>
            <a:ext cx="1828800" cy="868680"/>
          </a:xfrm>
          <a:prstGeom prst="rect">
            <a:avLst/>
          </a:prstGeom>
          <a:noFill/>
          <a:ln/>
        </p:spPr>
        <p:txBody>
          <a:bodyPr wrap="square" lIns="762" tIns="762" rIns="762" bIns="762"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Preprocessing and feature processing</a:t>
            </a:r>
            <a:endParaRPr lang="en-US" sz="1100" dirty="0"/>
          </a:p>
        </p:txBody>
      </p:sp>
      <p:sp>
        <p:nvSpPr>
          <p:cNvPr id="11" name="Shape 8"/>
          <p:cNvSpPr/>
          <p:nvPr/>
        </p:nvSpPr>
        <p:spPr>
          <a:xfrm>
            <a:off x="4343400" y="1298448"/>
            <a:ext cx="365760" cy="0"/>
          </a:xfrm>
          <a:prstGeom prst="line">
            <a:avLst/>
          </a:prstGeom>
          <a:noFill/>
          <a:ln w="22225">
            <a:solidFill>
              <a:srgbClr val="1565C0"/>
            </a:solidFill>
            <a:prstDash val="solid"/>
            <a:tailEnd type="triangle"/>
          </a:ln>
        </p:spPr>
      </p:sp>
      <p:sp>
        <p:nvSpPr>
          <p:cNvPr id="12" name="Shape 9"/>
          <p:cNvSpPr/>
          <p:nvPr/>
        </p:nvSpPr>
        <p:spPr>
          <a:xfrm>
            <a:off x="4709160" y="868680"/>
            <a:ext cx="1828800" cy="868680"/>
          </a:xfrm>
          <a:prstGeom prst="roundRect">
            <a:avLst>
              <a:gd name="adj" fmla="val 6316"/>
            </a:avLst>
          </a:prstGeom>
          <a:solidFill>
            <a:srgbClr val="EAF3FB"/>
          </a:solidFill>
          <a:ln w="12700">
            <a:solidFill>
              <a:srgbClr val="1565C0"/>
            </a:solidFill>
            <a:prstDash val="solid"/>
          </a:ln>
        </p:spPr>
      </p:sp>
      <p:sp>
        <p:nvSpPr>
          <p:cNvPr id="13" name="Text 10"/>
          <p:cNvSpPr txBox="1"/>
          <p:nvPr/>
        </p:nvSpPr>
        <p:spPr>
          <a:xfrm>
            <a:off x="4709160" y="868680"/>
            <a:ext cx="1828800" cy="868680"/>
          </a:xfrm>
          <a:prstGeom prst="rect">
            <a:avLst/>
          </a:prstGeom>
          <a:noFill/>
          <a:ln/>
        </p:spPr>
        <p:txBody>
          <a:bodyPr wrap="square" lIns="762" tIns="762" rIns="762" bIns="762"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Wireless simulation state</a:t>
            </a:r>
            <a:endParaRPr lang="en-US" sz="1100" dirty="0"/>
          </a:p>
        </p:txBody>
      </p:sp>
      <p:sp>
        <p:nvSpPr>
          <p:cNvPr id="14" name="Shape 11"/>
          <p:cNvSpPr/>
          <p:nvPr/>
        </p:nvSpPr>
        <p:spPr>
          <a:xfrm>
            <a:off x="6537960" y="1298448"/>
            <a:ext cx="365760" cy="0"/>
          </a:xfrm>
          <a:prstGeom prst="line">
            <a:avLst/>
          </a:prstGeom>
          <a:noFill/>
          <a:ln w="22225">
            <a:solidFill>
              <a:srgbClr val="1565C0"/>
            </a:solidFill>
            <a:prstDash val="solid"/>
            <a:tailEnd type="triangle"/>
          </a:ln>
        </p:spPr>
      </p:sp>
      <p:sp>
        <p:nvSpPr>
          <p:cNvPr id="15" name="Shape 12"/>
          <p:cNvSpPr/>
          <p:nvPr/>
        </p:nvSpPr>
        <p:spPr>
          <a:xfrm>
            <a:off x="6903720" y="868680"/>
            <a:ext cx="1828800" cy="868680"/>
          </a:xfrm>
          <a:prstGeom prst="roundRect">
            <a:avLst>
              <a:gd name="adj" fmla="val 6316"/>
            </a:avLst>
          </a:prstGeom>
          <a:solidFill>
            <a:srgbClr val="EAF3FB"/>
          </a:solidFill>
          <a:ln w="12700">
            <a:solidFill>
              <a:srgbClr val="1565C0"/>
            </a:solidFill>
            <a:prstDash val="solid"/>
          </a:ln>
        </p:spPr>
      </p:sp>
      <p:sp>
        <p:nvSpPr>
          <p:cNvPr id="16" name="Text 13"/>
          <p:cNvSpPr txBox="1"/>
          <p:nvPr/>
        </p:nvSpPr>
        <p:spPr>
          <a:xfrm>
            <a:off x="6903720" y="868680"/>
            <a:ext cx="1828800" cy="868680"/>
          </a:xfrm>
          <a:prstGeom prst="rect">
            <a:avLst/>
          </a:prstGeom>
          <a:noFill/>
          <a:ln/>
        </p:spPr>
        <p:txBody>
          <a:bodyPr wrap="square" lIns="762" tIns="762" rIns="762" bIns="762" rtlCol="0" anchor="ctr"/>
          <a:lstStyle/>
          <a:p>
            <a:pPr marL="0" indent="0" algn="ctr">
              <a:buNone/>
            </a:pPr>
            <a:r>
              <a:rPr lang="en-US" sz="1100" dirty="0">
                <a:solidFill>
                  <a:srgbClr val="0B1F3A"/>
                </a:solidFill>
                <a:latin typeface="Calibri" pitchFamily="34" charset="0"/>
                <a:ea typeface="Calibri" pitchFamily="34" charset="-122"/>
                <a:cs typeface="Calibri" pitchFamily="34" charset="-120"/>
              </a:rPr>
              <a:t>Agent observations (5 agents)</a:t>
            </a:r>
            <a:endParaRPr lang="en-US" sz="1100" dirty="0"/>
          </a:p>
        </p:txBody>
      </p:sp>
      <p:sp>
        <p:nvSpPr>
          <p:cNvPr id="17" name="Text 14"/>
          <p:cNvSpPr txBox="1"/>
          <p:nvPr/>
        </p:nvSpPr>
        <p:spPr>
          <a:xfrm>
            <a:off x="320040" y="1920240"/>
            <a:ext cx="5120640" cy="2743200"/>
          </a:xfrm>
          <a:prstGeom prst="rect">
            <a:avLst/>
          </a:prstGeom>
          <a:noFill/>
          <a:ln/>
        </p:spPr>
        <p:txBody>
          <a:bodyPr wrap="square" lIns="381" tIns="381" rIns="381" bIns="381" rtlCol="0" anchor="t"/>
          <a:lstStyle/>
          <a:p>
            <a:pPr marL="342900" indent="-3429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Reported dataset size: 15,760 records (to be verified)</a:t>
            </a:r>
            <a:endParaRPr lang="en-US" sz="1200" dirty="0"/>
          </a:p>
          <a:p>
            <a:pPr marL="342900" indent="-3429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Feature categories: timestamp, user/device ID, application type, signal strength, latency, required bandwidth, allocated bandwidth, resource allocation</a:t>
            </a:r>
            <a:endParaRPr lang="en-US" sz="1200" dirty="0"/>
          </a:p>
          <a:p>
            <a:pPr marL="342900" indent="-3429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System concept: 5 agents, 3 channel choices, a simulation abstraction (not a real-router experiment)</a:t>
            </a:r>
            <a:endParaRPr lang="en-US" sz="1200" dirty="0"/>
          </a:p>
          <a:p>
            <a:pPr marL="342900" indent="-342900">
              <a:spcAft>
                <a:spcPts val="600"/>
              </a:spcAft>
              <a:buSzPct val="100000"/>
              <a:buChar char="•"/>
            </a:pPr>
            <a:r>
              <a:rPr lang="en-US" sz="1200" dirty="0">
                <a:solidFill>
                  <a:srgbClr val="0B1F3A"/>
                </a:solidFill>
                <a:latin typeface="Calibri" pitchFamily="34" charset="0"/>
                <a:ea typeface="Calibri" pitchFamily="34" charset="-122"/>
                <a:cs typeface="Calibri" pitchFamily="34" charset="-120"/>
              </a:rPr>
              <a:t>RL environment supplies states, actions, transitions and rewards per the implementation</a:t>
            </a:r>
            <a:endParaRPr lang="en-US" sz="1200" dirty="0"/>
          </a:p>
        </p:txBody>
      </p:sp>
      <p:sp>
        <p:nvSpPr>
          <p:cNvPr id="18" name="Shape 15"/>
          <p:cNvSpPr/>
          <p:nvPr/>
        </p:nvSpPr>
        <p:spPr>
          <a:xfrm>
            <a:off x="5669280" y="1920240"/>
            <a:ext cx="3200400" cy="1280160"/>
          </a:xfrm>
          <a:prstGeom prst="roundRect">
            <a:avLst>
              <a:gd name="adj" fmla="val 4286"/>
            </a:avLst>
          </a:prstGeom>
          <a:solidFill>
            <a:srgbClr val="EAF3FB"/>
          </a:solidFill>
          <a:ln w="12700">
            <a:solidFill>
              <a:srgbClr val="1565C0"/>
            </a:solidFill>
            <a:prstDash val="solid"/>
          </a:ln>
        </p:spPr>
      </p:sp>
      <p:sp>
        <p:nvSpPr>
          <p:cNvPr id="19" name="Text 16"/>
          <p:cNvSpPr txBox="1"/>
          <p:nvPr/>
        </p:nvSpPr>
        <p:spPr>
          <a:xfrm>
            <a:off x="5669280" y="1920240"/>
            <a:ext cx="3200400" cy="1280160"/>
          </a:xfrm>
          <a:prstGeom prst="rect">
            <a:avLst/>
          </a:prstGeom>
          <a:noFill/>
          <a:ln/>
        </p:spPr>
        <p:txBody>
          <a:bodyPr wrap="square" lIns="762" tIns="762" rIns="762" bIns="762" rtlCol="0" anchor="ctr"/>
          <a:lstStyle/>
          <a:p>
            <a:pPr marL="0" indent="0" algn="l">
              <a:buNone/>
            </a:pPr>
            <a:r>
              <a:rPr lang="en-US" sz="1100" dirty="0">
                <a:solidFill>
                  <a:srgbClr val="0B1F3A"/>
                </a:solidFill>
                <a:latin typeface="Calibri" pitchFamily="34" charset="0"/>
                <a:ea typeface="Calibri" pitchFamily="34" charset="-122"/>
                <a:cs typeface="Calibri" pitchFamily="34" charset="-120"/>
              </a:rPr>
              <a:t>Recorded dataset features differ from calculated metrics: throughput, goodput, BER and PER are computed, not CSV columns (unless confirmed).</a:t>
            </a:r>
            <a:endParaRPr lang="en-US" sz="1100" dirty="0"/>
          </a:p>
        </p:txBody>
      </p:sp>
      <p:sp>
        <p:nvSpPr>
          <p:cNvPr id="20" name="Shape 17"/>
          <p:cNvSpPr/>
          <p:nvPr/>
        </p:nvSpPr>
        <p:spPr>
          <a:xfrm>
            <a:off x="5669280" y="3337560"/>
            <a:ext cx="3200400" cy="1234440"/>
          </a:xfrm>
          <a:prstGeom prst="roundRect">
            <a:avLst>
              <a:gd name="adj" fmla="val 4444"/>
            </a:avLst>
          </a:prstGeom>
          <a:solidFill>
            <a:srgbClr val="FFF4E0"/>
          </a:solidFill>
          <a:ln w="12700">
            <a:solidFill>
              <a:srgbClr val="F9A825"/>
            </a:solidFill>
            <a:prstDash val="solid"/>
          </a:ln>
        </p:spPr>
      </p:sp>
      <p:sp>
        <p:nvSpPr>
          <p:cNvPr id="21" name="Text 18"/>
          <p:cNvSpPr txBox="1"/>
          <p:nvPr/>
        </p:nvSpPr>
        <p:spPr>
          <a:xfrm>
            <a:off x="5669280" y="3337560"/>
            <a:ext cx="3200400" cy="1234440"/>
          </a:xfrm>
          <a:prstGeom prst="rect">
            <a:avLst/>
          </a:prstGeom>
          <a:noFill/>
          <a:ln/>
        </p:spPr>
        <p:txBody>
          <a:bodyPr wrap="square" lIns="762" tIns="762" rIns="762" bIns="762" rtlCol="0" anchor="ctr"/>
          <a:lstStyle/>
          <a:p>
            <a:pPr marL="0" indent="0" algn="l">
              <a:buNone/>
            </a:pPr>
            <a:r>
              <a:rPr lang="en-US" sz="1100" dirty="0">
                <a:solidFill>
                  <a:srgbClr val="0B1F3A"/>
                </a:solidFill>
                <a:latin typeface="Calibri" pitchFamily="34" charset="0"/>
                <a:ea typeface="Calibri" pitchFamily="34" charset="-122"/>
                <a:cs typeface="Calibri" pitchFamily="34" charset="-120"/>
              </a:rPr>
              <a:t>Preprocessing steps, train/test split, seed and leakage prevention: not verified, project code not supplied.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Proposed System Block Diagram</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5 / 10</a:t>
            </a:r>
            <a:endParaRPr lang="en-US" sz="900" dirty="0"/>
          </a:p>
        </p:txBody>
      </p:sp>
      <p:sp>
        <p:nvSpPr>
          <p:cNvPr id="6" name="Shape 3"/>
          <p:cNvSpPr/>
          <p:nvPr/>
        </p:nvSpPr>
        <p:spPr>
          <a:xfrm>
            <a:off x="274320" y="868680"/>
            <a:ext cx="1463040" cy="548640"/>
          </a:xfrm>
          <a:prstGeom prst="roundRect">
            <a:avLst>
              <a:gd name="adj" fmla="val 10000"/>
            </a:avLst>
          </a:prstGeom>
          <a:solidFill>
            <a:srgbClr val="0B1F3A"/>
          </a:solidFill>
          <a:ln w="12700">
            <a:solidFill>
              <a:srgbClr val="0B1F3A"/>
            </a:solidFill>
            <a:prstDash val="solid"/>
          </a:ln>
        </p:spPr>
      </p:sp>
      <p:sp>
        <p:nvSpPr>
          <p:cNvPr id="7" name="Text 4"/>
          <p:cNvSpPr txBox="1"/>
          <p:nvPr/>
        </p:nvSpPr>
        <p:spPr>
          <a:xfrm>
            <a:off x="274320" y="868680"/>
            <a:ext cx="1463040" cy="548640"/>
          </a:xfrm>
          <a:prstGeom prst="rect">
            <a:avLst/>
          </a:prstGeom>
          <a:noFill/>
          <a:ln/>
        </p:spPr>
        <p:txBody>
          <a:bodyPr wrap="square" lIns="762" tIns="762" rIns="762" bIns="762"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Dataset (CSV)</a:t>
            </a:r>
            <a:endParaRPr lang="en-US" sz="1100" dirty="0"/>
          </a:p>
        </p:txBody>
      </p:sp>
      <p:sp>
        <p:nvSpPr>
          <p:cNvPr id="8" name="Shape 5"/>
          <p:cNvSpPr/>
          <p:nvPr/>
        </p:nvSpPr>
        <p:spPr>
          <a:xfrm>
            <a:off x="1737360" y="1143000"/>
            <a:ext cx="365760" cy="0"/>
          </a:xfrm>
          <a:prstGeom prst="line">
            <a:avLst/>
          </a:prstGeom>
          <a:noFill/>
          <a:ln w="22225">
            <a:solidFill>
              <a:srgbClr val="1565C0"/>
            </a:solidFill>
            <a:prstDash val="solid"/>
            <a:tailEnd type="triangle"/>
          </a:ln>
        </p:spPr>
      </p:sp>
      <p:sp>
        <p:nvSpPr>
          <p:cNvPr id="9" name="Shape 6"/>
          <p:cNvSpPr/>
          <p:nvPr/>
        </p:nvSpPr>
        <p:spPr>
          <a:xfrm>
            <a:off x="2103120" y="868680"/>
            <a:ext cx="1737360" cy="548640"/>
          </a:xfrm>
          <a:prstGeom prst="roundRect">
            <a:avLst>
              <a:gd name="adj" fmla="val 10000"/>
            </a:avLst>
          </a:prstGeom>
          <a:solidFill>
            <a:srgbClr val="EAF3FB"/>
          </a:solidFill>
          <a:ln w="12700">
            <a:solidFill>
              <a:srgbClr val="1565C0"/>
            </a:solidFill>
            <a:prstDash val="solid"/>
          </a:ln>
        </p:spPr>
      </p:sp>
      <p:sp>
        <p:nvSpPr>
          <p:cNvPr id="10" name="Text 7"/>
          <p:cNvSpPr txBox="1"/>
          <p:nvPr/>
        </p:nvSpPr>
        <p:spPr>
          <a:xfrm>
            <a:off x="2103120" y="868680"/>
            <a:ext cx="1737360" cy="548640"/>
          </a:xfrm>
          <a:prstGeom prst="rect">
            <a:avLst/>
          </a:prstGeom>
          <a:noFill/>
          <a:ln/>
        </p:spPr>
        <p:txBody>
          <a:bodyPr wrap="square" lIns="762" tIns="762" rIns="762" bIns="762"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Preprocessing and feature preparation</a:t>
            </a:r>
            <a:endParaRPr lang="en-US" sz="1000" dirty="0"/>
          </a:p>
        </p:txBody>
      </p:sp>
      <p:sp>
        <p:nvSpPr>
          <p:cNvPr id="11" name="Shape 8"/>
          <p:cNvSpPr/>
          <p:nvPr/>
        </p:nvSpPr>
        <p:spPr>
          <a:xfrm>
            <a:off x="3840480" y="1143000"/>
            <a:ext cx="365760" cy="0"/>
          </a:xfrm>
          <a:prstGeom prst="line">
            <a:avLst/>
          </a:prstGeom>
          <a:noFill/>
          <a:ln w="22225">
            <a:solidFill>
              <a:srgbClr val="1565C0"/>
            </a:solidFill>
            <a:prstDash val="solid"/>
            <a:tailEnd type="triangle"/>
          </a:ln>
        </p:spPr>
      </p:sp>
      <p:sp>
        <p:nvSpPr>
          <p:cNvPr id="12" name="Shape 9"/>
          <p:cNvSpPr/>
          <p:nvPr/>
        </p:nvSpPr>
        <p:spPr>
          <a:xfrm>
            <a:off x="4206240" y="868680"/>
            <a:ext cx="2926080" cy="548640"/>
          </a:xfrm>
          <a:prstGeom prst="roundRect">
            <a:avLst>
              <a:gd name="adj" fmla="val 10000"/>
            </a:avLst>
          </a:prstGeom>
          <a:solidFill>
            <a:srgbClr val="EAF3FB"/>
          </a:solidFill>
          <a:ln w="12700">
            <a:solidFill>
              <a:srgbClr val="1565C0"/>
            </a:solidFill>
            <a:prstDash val="solid"/>
          </a:ln>
        </p:spPr>
      </p:sp>
      <p:sp>
        <p:nvSpPr>
          <p:cNvPr id="13" name="Text 10"/>
          <p:cNvSpPr txBox="1"/>
          <p:nvPr/>
        </p:nvSpPr>
        <p:spPr>
          <a:xfrm>
            <a:off x="4206240" y="868680"/>
            <a:ext cx="2926080" cy="548640"/>
          </a:xfrm>
          <a:prstGeom prst="rect">
            <a:avLst/>
          </a:prstGeom>
          <a:noFill/>
          <a:ln/>
        </p:spPr>
        <p:txBody>
          <a:bodyPr wrap="square" lIns="762" tIns="762" rIns="762" bIns="762"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Wireless simulation environment: 5 agents, 3 channels; returns state, reward, feedback</a:t>
            </a:r>
            <a:endParaRPr lang="en-US" sz="1000" dirty="0"/>
          </a:p>
        </p:txBody>
      </p:sp>
      <p:sp>
        <p:nvSpPr>
          <p:cNvPr id="14" name="Shape 11"/>
          <p:cNvSpPr/>
          <p:nvPr/>
        </p:nvSpPr>
        <p:spPr>
          <a:xfrm>
            <a:off x="4480560" y="1417320"/>
            <a:ext cx="0" cy="411480"/>
          </a:xfrm>
          <a:prstGeom prst="line">
            <a:avLst/>
          </a:prstGeom>
          <a:noFill/>
          <a:ln w="22225">
            <a:solidFill>
              <a:srgbClr val="1565C0"/>
            </a:solidFill>
            <a:prstDash val="solid"/>
            <a:tailEnd type="triangle"/>
          </a:ln>
        </p:spPr>
      </p:sp>
      <p:sp>
        <p:nvSpPr>
          <p:cNvPr id="15" name="Shape 12"/>
          <p:cNvSpPr/>
          <p:nvPr/>
        </p:nvSpPr>
        <p:spPr>
          <a:xfrm>
            <a:off x="274320" y="1828800"/>
            <a:ext cx="822960" cy="457200"/>
          </a:xfrm>
          <a:prstGeom prst="roundRect">
            <a:avLst>
              <a:gd name="adj" fmla="val 12000"/>
            </a:avLst>
          </a:prstGeom>
          <a:solidFill>
            <a:srgbClr val="1565C0"/>
          </a:solidFill>
          <a:ln w="12700">
            <a:solidFill>
              <a:srgbClr val="1565C0"/>
            </a:solidFill>
            <a:prstDash val="solid"/>
          </a:ln>
        </p:spPr>
      </p:sp>
      <p:sp>
        <p:nvSpPr>
          <p:cNvPr id="16" name="Text 13"/>
          <p:cNvSpPr txBox="1"/>
          <p:nvPr/>
        </p:nvSpPr>
        <p:spPr>
          <a:xfrm>
            <a:off x="274320" y="1828800"/>
            <a:ext cx="822960" cy="45720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1</a:t>
            </a:r>
            <a:endParaRPr lang="en-US" sz="1000" dirty="0"/>
          </a:p>
        </p:txBody>
      </p:sp>
      <p:sp>
        <p:nvSpPr>
          <p:cNvPr id="17" name="Shape 14"/>
          <p:cNvSpPr/>
          <p:nvPr/>
        </p:nvSpPr>
        <p:spPr>
          <a:xfrm>
            <a:off x="1188720" y="1828800"/>
            <a:ext cx="822960" cy="457200"/>
          </a:xfrm>
          <a:prstGeom prst="roundRect">
            <a:avLst>
              <a:gd name="adj" fmla="val 12000"/>
            </a:avLst>
          </a:prstGeom>
          <a:solidFill>
            <a:srgbClr val="1565C0"/>
          </a:solidFill>
          <a:ln w="12700">
            <a:solidFill>
              <a:srgbClr val="1565C0"/>
            </a:solidFill>
            <a:prstDash val="solid"/>
          </a:ln>
        </p:spPr>
      </p:sp>
      <p:sp>
        <p:nvSpPr>
          <p:cNvPr id="18" name="Text 15"/>
          <p:cNvSpPr txBox="1"/>
          <p:nvPr/>
        </p:nvSpPr>
        <p:spPr>
          <a:xfrm>
            <a:off x="1188720" y="1828800"/>
            <a:ext cx="822960" cy="45720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2</a:t>
            </a:r>
            <a:endParaRPr lang="en-US" sz="1000" dirty="0"/>
          </a:p>
        </p:txBody>
      </p:sp>
      <p:sp>
        <p:nvSpPr>
          <p:cNvPr id="19" name="Shape 16"/>
          <p:cNvSpPr/>
          <p:nvPr/>
        </p:nvSpPr>
        <p:spPr>
          <a:xfrm>
            <a:off x="2103120" y="1828800"/>
            <a:ext cx="822960" cy="457200"/>
          </a:xfrm>
          <a:prstGeom prst="roundRect">
            <a:avLst>
              <a:gd name="adj" fmla="val 12000"/>
            </a:avLst>
          </a:prstGeom>
          <a:solidFill>
            <a:srgbClr val="1565C0"/>
          </a:solidFill>
          <a:ln w="12700">
            <a:solidFill>
              <a:srgbClr val="1565C0"/>
            </a:solidFill>
            <a:prstDash val="solid"/>
          </a:ln>
        </p:spPr>
      </p:sp>
      <p:sp>
        <p:nvSpPr>
          <p:cNvPr id="20" name="Text 17"/>
          <p:cNvSpPr txBox="1"/>
          <p:nvPr/>
        </p:nvSpPr>
        <p:spPr>
          <a:xfrm>
            <a:off x="2103120" y="1828800"/>
            <a:ext cx="822960" cy="45720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3</a:t>
            </a:r>
            <a:endParaRPr lang="en-US" sz="1000" dirty="0"/>
          </a:p>
        </p:txBody>
      </p:sp>
      <p:sp>
        <p:nvSpPr>
          <p:cNvPr id="21" name="Shape 18"/>
          <p:cNvSpPr/>
          <p:nvPr/>
        </p:nvSpPr>
        <p:spPr>
          <a:xfrm>
            <a:off x="3017520" y="1828800"/>
            <a:ext cx="822960" cy="457200"/>
          </a:xfrm>
          <a:prstGeom prst="roundRect">
            <a:avLst>
              <a:gd name="adj" fmla="val 12000"/>
            </a:avLst>
          </a:prstGeom>
          <a:solidFill>
            <a:srgbClr val="1565C0"/>
          </a:solidFill>
          <a:ln w="12700">
            <a:solidFill>
              <a:srgbClr val="1565C0"/>
            </a:solidFill>
            <a:prstDash val="solid"/>
          </a:ln>
        </p:spPr>
      </p:sp>
      <p:sp>
        <p:nvSpPr>
          <p:cNvPr id="22" name="Text 19"/>
          <p:cNvSpPr txBox="1"/>
          <p:nvPr/>
        </p:nvSpPr>
        <p:spPr>
          <a:xfrm>
            <a:off x="3017520" y="1828800"/>
            <a:ext cx="822960" cy="45720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4</a:t>
            </a:r>
            <a:endParaRPr lang="en-US" sz="1000" dirty="0"/>
          </a:p>
        </p:txBody>
      </p:sp>
      <p:sp>
        <p:nvSpPr>
          <p:cNvPr id="23" name="Shape 20"/>
          <p:cNvSpPr/>
          <p:nvPr/>
        </p:nvSpPr>
        <p:spPr>
          <a:xfrm>
            <a:off x="3931920" y="1828800"/>
            <a:ext cx="822960" cy="457200"/>
          </a:xfrm>
          <a:prstGeom prst="roundRect">
            <a:avLst>
              <a:gd name="adj" fmla="val 12000"/>
            </a:avLst>
          </a:prstGeom>
          <a:solidFill>
            <a:srgbClr val="1565C0"/>
          </a:solidFill>
          <a:ln w="12700">
            <a:solidFill>
              <a:srgbClr val="1565C0"/>
            </a:solidFill>
            <a:prstDash val="solid"/>
          </a:ln>
        </p:spPr>
      </p:sp>
      <p:sp>
        <p:nvSpPr>
          <p:cNvPr id="24" name="Text 21"/>
          <p:cNvSpPr txBox="1"/>
          <p:nvPr/>
        </p:nvSpPr>
        <p:spPr>
          <a:xfrm>
            <a:off x="3931920" y="1828800"/>
            <a:ext cx="822960" cy="45720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 5</a:t>
            </a:r>
            <a:endParaRPr lang="en-US" sz="1000" dirty="0"/>
          </a:p>
        </p:txBody>
      </p:sp>
      <p:sp>
        <p:nvSpPr>
          <p:cNvPr id="25" name="Shape 22"/>
          <p:cNvSpPr/>
          <p:nvPr/>
        </p:nvSpPr>
        <p:spPr>
          <a:xfrm>
            <a:off x="274320" y="2377440"/>
            <a:ext cx="4480560" cy="457200"/>
          </a:xfrm>
          <a:prstGeom prst="roundRect">
            <a:avLst>
              <a:gd name="adj" fmla="val 12000"/>
            </a:avLst>
          </a:prstGeom>
          <a:solidFill>
            <a:srgbClr val="EAF3FB"/>
          </a:solidFill>
          <a:ln w="12700">
            <a:solidFill>
              <a:srgbClr val="1565C0"/>
            </a:solidFill>
            <a:prstDash val="solid"/>
          </a:ln>
        </p:spPr>
      </p:sp>
      <p:sp>
        <p:nvSpPr>
          <p:cNvPr id="26" name="Text 23"/>
          <p:cNvSpPr txBox="1"/>
          <p:nvPr/>
        </p:nvSpPr>
        <p:spPr>
          <a:xfrm>
            <a:off x="274320" y="2377440"/>
            <a:ext cx="4480560" cy="457200"/>
          </a:xfrm>
          <a:prstGeom prst="rect">
            <a:avLst/>
          </a:prstGeom>
          <a:noFill/>
          <a:ln/>
        </p:spPr>
        <p:txBody>
          <a:bodyPr wrap="square" lIns="762" tIns="762" rIns="762" bIns="762"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Local DQN training on local observations and rewards (data stays local)</a:t>
            </a:r>
            <a:endParaRPr lang="en-US" sz="1000" dirty="0"/>
          </a:p>
        </p:txBody>
      </p:sp>
      <p:sp>
        <p:nvSpPr>
          <p:cNvPr id="27" name="Shape 24"/>
          <p:cNvSpPr/>
          <p:nvPr/>
        </p:nvSpPr>
        <p:spPr>
          <a:xfrm>
            <a:off x="5029200" y="1828800"/>
            <a:ext cx="1280160" cy="1005840"/>
          </a:xfrm>
          <a:prstGeom prst="roundRect">
            <a:avLst>
              <a:gd name="adj" fmla="val 5455"/>
            </a:avLst>
          </a:prstGeom>
          <a:solidFill>
            <a:srgbClr val="FFF4E0"/>
          </a:solidFill>
          <a:ln w="12700">
            <a:solidFill>
              <a:srgbClr val="F9A825"/>
            </a:solidFill>
            <a:prstDash val="solid"/>
          </a:ln>
        </p:spPr>
      </p:sp>
      <p:sp>
        <p:nvSpPr>
          <p:cNvPr id="28" name="Text 25"/>
          <p:cNvSpPr txBox="1"/>
          <p:nvPr/>
        </p:nvSpPr>
        <p:spPr>
          <a:xfrm>
            <a:off x="5029200" y="1828800"/>
            <a:ext cx="1280160" cy="1005840"/>
          </a:xfrm>
          <a:prstGeom prst="rect">
            <a:avLst/>
          </a:prstGeom>
          <a:noFill/>
          <a:ln/>
        </p:spPr>
        <p:txBody>
          <a:bodyPr wrap="square" lIns="762" tIns="762" rIns="762" bIns="762"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Optional DP step: clip + noise on updates (DP-FedMARL only, if implemented)</a:t>
            </a:r>
            <a:endParaRPr lang="en-US" sz="900" dirty="0"/>
          </a:p>
        </p:txBody>
      </p:sp>
      <p:sp>
        <p:nvSpPr>
          <p:cNvPr id="29" name="Shape 26"/>
          <p:cNvSpPr/>
          <p:nvPr/>
        </p:nvSpPr>
        <p:spPr>
          <a:xfrm>
            <a:off x="4754880" y="2331720"/>
            <a:ext cx="274320" cy="0"/>
          </a:xfrm>
          <a:prstGeom prst="line">
            <a:avLst/>
          </a:prstGeom>
          <a:noFill/>
          <a:ln w="22225">
            <a:solidFill>
              <a:srgbClr val="00B8D9"/>
            </a:solidFill>
            <a:prstDash val="solid"/>
            <a:tailEnd type="triangle"/>
          </a:ln>
        </p:spPr>
      </p:sp>
      <p:sp>
        <p:nvSpPr>
          <p:cNvPr id="30" name="Shape 27"/>
          <p:cNvSpPr/>
          <p:nvPr/>
        </p:nvSpPr>
        <p:spPr>
          <a:xfrm>
            <a:off x="6309360" y="2331720"/>
            <a:ext cx="365760" cy="0"/>
          </a:xfrm>
          <a:prstGeom prst="line">
            <a:avLst/>
          </a:prstGeom>
          <a:noFill/>
          <a:ln w="22225">
            <a:solidFill>
              <a:srgbClr val="00B8D9"/>
            </a:solidFill>
            <a:prstDash val="solid"/>
            <a:tailEnd type="triangle"/>
          </a:ln>
        </p:spPr>
      </p:sp>
      <p:sp>
        <p:nvSpPr>
          <p:cNvPr id="31" name="Shape 28"/>
          <p:cNvSpPr/>
          <p:nvPr/>
        </p:nvSpPr>
        <p:spPr>
          <a:xfrm>
            <a:off x="6675120" y="1828800"/>
            <a:ext cx="2194560" cy="1005840"/>
          </a:xfrm>
          <a:prstGeom prst="roundRect">
            <a:avLst>
              <a:gd name="adj" fmla="val 5455"/>
            </a:avLst>
          </a:prstGeom>
          <a:solidFill>
            <a:srgbClr val="0B1F3A"/>
          </a:solidFill>
          <a:ln w="12700">
            <a:solidFill>
              <a:srgbClr val="0B1F3A"/>
            </a:solidFill>
            <a:prstDash val="solid"/>
          </a:ln>
        </p:spPr>
      </p:sp>
      <p:sp>
        <p:nvSpPr>
          <p:cNvPr id="32" name="Text 29"/>
          <p:cNvSpPr txBox="1"/>
          <p:nvPr/>
        </p:nvSpPr>
        <p:spPr>
          <a:xfrm>
            <a:off x="6675120" y="1828800"/>
            <a:ext cx="2194560" cy="1005840"/>
          </a:xfrm>
          <a:prstGeom prst="rect">
            <a:avLst/>
          </a:prstGeom>
          <a:noFill/>
          <a:ln/>
        </p:spPr>
        <p:txBody>
          <a:bodyPr wrap="square" lIns="762" tIns="762" rIns="762" bIns="762"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FedAvg aggregation server</a:t>
            </a:r>
            <a:endParaRPr lang="en-US" sz="1100" dirty="0"/>
          </a:p>
        </p:txBody>
      </p:sp>
      <p:sp>
        <p:nvSpPr>
          <p:cNvPr id="33" name="Shape 30"/>
          <p:cNvSpPr/>
          <p:nvPr/>
        </p:nvSpPr>
        <p:spPr>
          <a:xfrm>
            <a:off x="7772400" y="2834640"/>
            <a:ext cx="0" cy="365760"/>
          </a:xfrm>
          <a:prstGeom prst="line">
            <a:avLst/>
          </a:prstGeom>
          <a:noFill/>
          <a:ln w="22225">
            <a:solidFill>
              <a:srgbClr val="5A6B7F"/>
            </a:solidFill>
            <a:prstDash val="solid"/>
          </a:ln>
        </p:spPr>
      </p:sp>
      <p:sp>
        <p:nvSpPr>
          <p:cNvPr id="34" name="Shape 31"/>
          <p:cNvSpPr/>
          <p:nvPr/>
        </p:nvSpPr>
        <p:spPr>
          <a:xfrm>
            <a:off x="2514600" y="3200400"/>
            <a:ext cx="5257800" cy="0"/>
          </a:xfrm>
          <a:prstGeom prst="line">
            <a:avLst/>
          </a:prstGeom>
          <a:noFill/>
          <a:ln w="22225">
            <a:solidFill>
              <a:srgbClr val="5A6B7F"/>
            </a:solidFill>
            <a:prstDash val="dash"/>
            <a:headEnd type="triangle"/>
            <a:tailEnd type="triangle"/>
          </a:ln>
        </p:spPr>
      </p:sp>
      <p:sp>
        <p:nvSpPr>
          <p:cNvPr id="35" name="Shape 32"/>
          <p:cNvSpPr/>
          <p:nvPr/>
        </p:nvSpPr>
        <p:spPr>
          <a:xfrm>
            <a:off x="2514600" y="2834640"/>
            <a:ext cx="0" cy="365760"/>
          </a:xfrm>
          <a:prstGeom prst="line">
            <a:avLst/>
          </a:prstGeom>
          <a:noFill/>
          <a:ln w="22225">
            <a:solidFill>
              <a:srgbClr val="5A6B7F"/>
            </a:solidFill>
            <a:prstDash val="dash"/>
          </a:ln>
        </p:spPr>
      </p:sp>
      <p:sp>
        <p:nvSpPr>
          <p:cNvPr id="36" name="Text 33"/>
          <p:cNvSpPr txBox="1"/>
          <p:nvPr/>
        </p:nvSpPr>
        <p:spPr>
          <a:xfrm>
            <a:off x="3017520" y="3227832"/>
            <a:ext cx="3657600" cy="228600"/>
          </a:xfrm>
          <a:prstGeom prst="rect">
            <a:avLst/>
          </a:prstGeom>
          <a:noFill/>
          <a:ln/>
        </p:spPr>
        <p:txBody>
          <a:bodyPr wrap="square" lIns="381" tIns="381" rIns="381" bIns="381" rtlCol="0" anchor="ctr"/>
          <a:lstStyle/>
          <a:p>
            <a:pPr marL="0" indent="0" algn="ctr">
              <a:buNone/>
            </a:pPr>
            <a:r>
              <a:rPr lang="en-US" sz="900" dirty="0">
                <a:solidFill>
                  <a:srgbClr val="5A6B7F"/>
                </a:solidFill>
                <a:latin typeface="Calibri" pitchFamily="34" charset="0"/>
                <a:ea typeface="Calibri" pitchFamily="34" charset="-122"/>
                <a:cs typeface="Calibri" pitchFamily="34" charset="-120"/>
              </a:rPr>
              <a:t>Global model redistributed to agents</a:t>
            </a:r>
            <a:endParaRPr lang="en-US" sz="900" dirty="0"/>
          </a:p>
        </p:txBody>
      </p:sp>
      <p:sp>
        <p:nvSpPr>
          <p:cNvPr id="37" name="Shape 34"/>
          <p:cNvSpPr/>
          <p:nvPr/>
        </p:nvSpPr>
        <p:spPr>
          <a:xfrm>
            <a:off x="8686800" y="2834640"/>
            <a:ext cx="0" cy="868680"/>
          </a:xfrm>
          <a:prstGeom prst="line">
            <a:avLst/>
          </a:prstGeom>
          <a:noFill/>
          <a:ln w="22225">
            <a:solidFill>
              <a:srgbClr val="1565C0"/>
            </a:solidFill>
            <a:prstDash val="solid"/>
            <a:tailEnd type="triangle"/>
          </a:ln>
        </p:spPr>
      </p:sp>
      <p:sp>
        <p:nvSpPr>
          <p:cNvPr id="38" name="Shape 35"/>
          <p:cNvSpPr/>
          <p:nvPr/>
        </p:nvSpPr>
        <p:spPr>
          <a:xfrm>
            <a:off x="274320" y="3703320"/>
            <a:ext cx="4572000" cy="731520"/>
          </a:xfrm>
          <a:prstGeom prst="roundRect">
            <a:avLst>
              <a:gd name="adj" fmla="val 7500"/>
            </a:avLst>
          </a:prstGeom>
          <a:solidFill>
            <a:srgbClr val="FFFFFF"/>
          </a:solidFill>
          <a:ln w="12700">
            <a:solidFill>
              <a:srgbClr val="5A6B7F"/>
            </a:solidFill>
            <a:prstDash val="solid"/>
          </a:ln>
        </p:spPr>
      </p:sp>
      <p:sp>
        <p:nvSpPr>
          <p:cNvPr id="39" name="Text 36"/>
          <p:cNvSpPr txBox="1"/>
          <p:nvPr/>
        </p:nvSpPr>
        <p:spPr>
          <a:xfrm>
            <a:off x="274320" y="3703320"/>
            <a:ext cx="4572000" cy="731520"/>
          </a:xfrm>
          <a:prstGeom prst="rect">
            <a:avLst/>
          </a:prstGeom>
          <a:noFill/>
          <a:ln/>
        </p:spPr>
        <p:txBody>
          <a:bodyPr wrap="square" lIns="762" tIns="762" rIns="762" bIns="762"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Separate baseline paths: Centralized DQN (joint decisions)  |  Independent MARL (no aggregation)</a:t>
            </a:r>
            <a:endParaRPr lang="en-US" sz="1000" dirty="0"/>
          </a:p>
        </p:txBody>
      </p:sp>
      <p:sp>
        <p:nvSpPr>
          <p:cNvPr id="40" name="Shape 37"/>
          <p:cNvSpPr/>
          <p:nvPr/>
        </p:nvSpPr>
        <p:spPr>
          <a:xfrm>
            <a:off x="4846320" y="4069080"/>
            <a:ext cx="457200" cy="0"/>
          </a:xfrm>
          <a:prstGeom prst="line">
            <a:avLst/>
          </a:prstGeom>
          <a:noFill/>
          <a:ln w="22225">
            <a:solidFill>
              <a:srgbClr val="5A6B7F"/>
            </a:solidFill>
            <a:prstDash val="solid"/>
            <a:tailEnd type="triangle"/>
          </a:ln>
        </p:spPr>
      </p:sp>
      <p:sp>
        <p:nvSpPr>
          <p:cNvPr id="41" name="Shape 38"/>
          <p:cNvSpPr/>
          <p:nvPr/>
        </p:nvSpPr>
        <p:spPr>
          <a:xfrm>
            <a:off x="5303520" y="3703320"/>
            <a:ext cx="3566160" cy="731520"/>
          </a:xfrm>
          <a:prstGeom prst="roundRect">
            <a:avLst>
              <a:gd name="adj" fmla="val 7500"/>
            </a:avLst>
          </a:prstGeom>
          <a:solidFill>
            <a:srgbClr val="0B1F3A"/>
          </a:solidFill>
          <a:ln w="12700">
            <a:solidFill>
              <a:srgbClr val="0B1F3A"/>
            </a:solidFill>
            <a:prstDash val="solid"/>
          </a:ln>
        </p:spPr>
      </p:sp>
      <p:sp>
        <p:nvSpPr>
          <p:cNvPr id="42" name="Text 39"/>
          <p:cNvSpPr txBox="1"/>
          <p:nvPr/>
        </p:nvSpPr>
        <p:spPr>
          <a:xfrm>
            <a:off x="5303520" y="3703320"/>
            <a:ext cx="3566160" cy="731520"/>
          </a:xfrm>
          <a:prstGeom prst="rect">
            <a:avLst/>
          </a:prstGeom>
          <a:noFill/>
          <a:ln/>
        </p:spPr>
        <p:txBody>
          <a:bodyPr wrap="square" lIns="762" tIns="762" rIns="762" bIns="762"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Wireless metrics evaluation and comparison (all four approaches)</a:t>
            </a:r>
            <a:endParaRPr lang="en-US" sz="1000" dirty="0"/>
          </a:p>
        </p:txBody>
      </p:sp>
      <p:sp>
        <p:nvSpPr>
          <p:cNvPr id="43" name="Text 40"/>
          <p:cNvSpPr txBox="1"/>
          <p:nvPr/>
        </p:nvSpPr>
        <p:spPr>
          <a:xfrm>
            <a:off x="274320" y="4526280"/>
            <a:ext cx="8595360" cy="274320"/>
          </a:xfrm>
          <a:prstGeom prst="rect">
            <a:avLst/>
          </a:prstGeom>
          <a:noFill/>
          <a:ln/>
        </p:spPr>
        <p:txBody>
          <a:bodyPr wrap="square" lIns="381" tIns="381" rIns="381" bIns="381" rtlCol="0" anchor="ctr"/>
          <a:lstStyle/>
          <a:p>
            <a:pPr marL="0" indent="0">
              <a:buNone/>
            </a:pPr>
            <a:r>
              <a:rPr lang="en-US" sz="900" dirty="0">
                <a:solidFill>
                  <a:srgbClr val="5A6B7F"/>
                </a:solidFill>
                <a:latin typeface="Calibri" pitchFamily="34" charset="0"/>
                <a:ea typeface="Calibri" pitchFamily="34" charset="-122"/>
                <a:cs typeface="Calibri" pitchFamily="34" charset="-120"/>
              </a:rPr>
              <a:t>Blue arrows: data/feedback flow   Cyan: model updates to server   Dashed grey: global model back   Amber: privacy step on updates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Learning Models and Methodology</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6 / 10</a:t>
            </a:r>
            <a:endParaRPr lang="en-US" sz="900" dirty="0"/>
          </a:p>
        </p:txBody>
      </p:sp>
      <p:sp>
        <p:nvSpPr>
          <p:cNvPr id="6" name="Shape 3"/>
          <p:cNvSpPr/>
          <p:nvPr/>
        </p:nvSpPr>
        <p:spPr>
          <a:xfrm>
            <a:off x="274320" y="868680"/>
            <a:ext cx="2057400" cy="1600200"/>
          </a:xfrm>
          <a:prstGeom prst="rect">
            <a:avLst/>
          </a:prstGeom>
          <a:solidFill>
            <a:srgbClr val="EAF3FB"/>
          </a:solidFill>
          <a:ln w="12700">
            <a:solidFill>
              <a:srgbClr val="1565C0"/>
            </a:solidFill>
            <a:prstDash val="solid"/>
          </a:ln>
        </p:spPr>
      </p:sp>
      <p:sp>
        <p:nvSpPr>
          <p:cNvPr id="7" name="Text 4"/>
          <p:cNvSpPr txBox="1"/>
          <p:nvPr/>
        </p:nvSpPr>
        <p:spPr>
          <a:xfrm>
            <a:off x="274320" y="914400"/>
            <a:ext cx="2057400" cy="365760"/>
          </a:xfrm>
          <a:prstGeom prst="rect">
            <a:avLst/>
          </a:prstGeom>
          <a:noFill/>
          <a:ln/>
        </p:spPr>
        <p:txBody>
          <a:bodyPr wrap="square" lIns="381" tIns="381" rIns="381" bIns="381"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A. Centralized DQN</a:t>
            </a:r>
            <a:endParaRPr lang="en-US" sz="1200" dirty="0"/>
          </a:p>
        </p:txBody>
      </p:sp>
      <p:sp>
        <p:nvSpPr>
          <p:cNvPr id="8" name="Text 5"/>
          <p:cNvSpPr txBox="1"/>
          <p:nvPr/>
        </p:nvSpPr>
        <p:spPr>
          <a:xfrm>
            <a:off x="365760" y="1280160"/>
            <a:ext cx="1874520" cy="731520"/>
          </a:xfrm>
          <a:prstGeom prst="rect">
            <a:avLst/>
          </a:prstGeom>
          <a:noFill/>
          <a:ln/>
        </p:spPr>
        <p:txBody>
          <a:bodyPr wrap="square" lIns="381" tIns="381" rIns="381" bIns="381" rtlCol="0" anchor="ctr"/>
          <a:lstStyle/>
          <a:p>
            <a:pPr marL="0" indent="0" algn="ctr">
              <a:buNone/>
            </a:pPr>
            <a:r>
              <a:rPr lang="en-US" sz="1050" dirty="0">
                <a:solidFill>
                  <a:srgbClr val="0B1F3A"/>
                </a:solidFill>
                <a:latin typeface="Calibri" pitchFamily="34" charset="0"/>
                <a:ea typeface="Calibri" pitchFamily="34" charset="-122"/>
                <a:cs typeface="Calibri" pitchFamily="34" charset="-120"/>
              </a:rPr>
              <a:t>Single learner over joint decisions; centralized baseline</a:t>
            </a:r>
            <a:endParaRPr lang="en-US" sz="1050" dirty="0"/>
          </a:p>
        </p:txBody>
      </p:sp>
      <p:sp>
        <p:nvSpPr>
          <p:cNvPr id="9" name="Text 6"/>
          <p:cNvSpPr txBox="1"/>
          <p:nvPr/>
        </p:nvSpPr>
        <p:spPr>
          <a:xfrm>
            <a:off x="365760" y="2103120"/>
            <a:ext cx="1874520" cy="274320"/>
          </a:xfrm>
          <a:prstGeom prst="rect">
            <a:avLst/>
          </a:prstGeom>
          <a:noFill/>
          <a:ln/>
        </p:spPr>
        <p:txBody>
          <a:bodyPr wrap="square" lIns="381" tIns="381" rIns="381" bIns="381" rtlCol="0" anchor="ctr"/>
          <a:lstStyle/>
          <a:p>
            <a:pPr marL="0" indent="0" algn="ctr">
              <a:buNone/>
            </a:pPr>
            <a:r>
              <a:rPr lang="en-US" sz="850" i="1" dirty="0">
                <a:solidFill>
                  <a:srgbClr val="5A6B7F"/>
                </a:solidFill>
                <a:latin typeface="Calibri" pitchFamily="34" charset="0"/>
                <a:ea typeface="Calibri" pitchFamily="34" charset="-122"/>
                <a:cs typeface="Calibri" pitchFamily="34" charset="-120"/>
              </a:rPr>
              <a:t>centralized_dqn.pt</a:t>
            </a:r>
            <a:endParaRPr lang="en-US" sz="850" dirty="0"/>
          </a:p>
        </p:txBody>
      </p:sp>
      <p:sp>
        <p:nvSpPr>
          <p:cNvPr id="10" name="Shape 7"/>
          <p:cNvSpPr/>
          <p:nvPr/>
        </p:nvSpPr>
        <p:spPr>
          <a:xfrm>
            <a:off x="2468880" y="868680"/>
            <a:ext cx="2057400" cy="1600200"/>
          </a:xfrm>
          <a:prstGeom prst="rect">
            <a:avLst/>
          </a:prstGeom>
          <a:solidFill>
            <a:srgbClr val="EAF3FB"/>
          </a:solidFill>
          <a:ln w="12700">
            <a:solidFill>
              <a:srgbClr val="1565C0"/>
            </a:solidFill>
            <a:prstDash val="solid"/>
          </a:ln>
        </p:spPr>
      </p:sp>
      <p:sp>
        <p:nvSpPr>
          <p:cNvPr id="11" name="Text 8"/>
          <p:cNvSpPr txBox="1"/>
          <p:nvPr/>
        </p:nvSpPr>
        <p:spPr>
          <a:xfrm>
            <a:off x="2468880" y="914400"/>
            <a:ext cx="2057400" cy="365760"/>
          </a:xfrm>
          <a:prstGeom prst="rect">
            <a:avLst/>
          </a:prstGeom>
          <a:noFill/>
          <a:ln/>
        </p:spPr>
        <p:txBody>
          <a:bodyPr wrap="square" lIns="381" tIns="381" rIns="381" bIns="381"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B. Independent MARL</a:t>
            </a:r>
            <a:endParaRPr lang="en-US" sz="1200" dirty="0"/>
          </a:p>
        </p:txBody>
      </p:sp>
      <p:sp>
        <p:nvSpPr>
          <p:cNvPr id="12" name="Text 9"/>
          <p:cNvSpPr txBox="1"/>
          <p:nvPr/>
        </p:nvSpPr>
        <p:spPr>
          <a:xfrm>
            <a:off x="2560320" y="1280160"/>
            <a:ext cx="1874520" cy="731520"/>
          </a:xfrm>
          <a:prstGeom prst="rect">
            <a:avLst/>
          </a:prstGeom>
          <a:noFill/>
          <a:ln/>
        </p:spPr>
        <p:txBody>
          <a:bodyPr wrap="square" lIns="381" tIns="381" rIns="381" bIns="381" rtlCol="0" anchor="ctr"/>
          <a:lstStyle/>
          <a:p>
            <a:pPr marL="0" indent="0" algn="ctr">
              <a:buNone/>
            </a:pPr>
            <a:r>
              <a:rPr lang="en-US" sz="1050" dirty="0">
                <a:solidFill>
                  <a:srgbClr val="0B1F3A"/>
                </a:solidFill>
                <a:latin typeface="Calibri" pitchFamily="34" charset="0"/>
                <a:ea typeface="Calibri" pitchFamily="34" charset="-122"/>
                <a:cs typeface="Calibri" pitchFamily="34" charset="-120"/>
              </a:rPr>
              <a:t>Separate DQN agents, no model aggregation</a:t>
            </a:r>
            <a:endParaRPr lang="en-US" sz="1050" dirty="0"/>
          </a:p>
        </p:txBody>
      </p:sp>
      <p:sp>
        <p:nvSpPr>
          <p:cNvPr id="13" name="Text 10"/>
          <p:cNvSpPr txBox="1"/>
          <p:nvPr/>
        </p:nvSpPr>
        <p:spPr>
          <a:xfrm>
            <a:off x="2560320" y="2103120"/>
            <a:ext cx="1874520" cy="274320"/>
          </a:xfrm>
          <a:prstGeom prst="rect">
            <a:avLst/>
          </a:prstGeom>
          <a:noFill/>
          <a:ln/>
        </p:spPr>
        <p:txBody>
          <a:bodyPr wrap="square" lIns="381" tIns="381" rIns="381" bIns="381" rtlCol="0" anchor="ctr"/>
          <a:lstStyle/>
          <a:p>
            <a:pPr marL="0" indent="0" algn="ctr">
              <a:buNone/>
            </a:pPr>
            <a:r>
              <a:rPr lang="en-US" sz="850" i="1" dirty="0">
                <a:solidFill>
                  <a:srgbClr val="5A6B7F"/>
                </a:solidFill>
                <a:latin typeface="Calibri" pitchFamily="34" charset="0"/>
                <a:ea typeface="Calibri" pitchFamily="34" charset="-122"/>
                <a:cs typeface="Calibri" pitchFamily="34" charset="-120"/>
              </a:rPr>
              <a:t>independent_marl_agents.pt</a:t>
            </a:r>
            <a:endParaRPr lang="en-US" sz="850" dirty="0"/>
          </a:p>
        </p:txBody>
      </p:sp>
      <p:sp>
        <p:nvSpPr>
          <p:cNvPr id="14" name="Shape 11"/>
          <p:cNvSpPr/>
          <p:nvPr/>
        </p:nvSpPr>
        <p:spPr>
          <a:xfrm>
            <a:off x="4663440" y="868680"/>
            <a:ext cx="2057400" cy="1600200"/>
          </a:xfrm>
          <a:prstGeom prst="rect">
            <a:avLst/>
          </a:prstGeom>
          <a:solidFill>
            <a:srgbClr val="EAF3FB"/>
          </a:solidFill>
          <a:ln w="12700">
            <a:solidFill>
              <a:srgbClr val="1565C0"/>
            </a:solidFill>
            <a:prstDash val="solid"/>
          </a:ln>
        </p:spPr>
      </p:sp>
      <p:sp>
        <p:nvSpPr>
          <p:cNvPr id="15" name="Text 12"/>
          <p:cNvSpPr txBox="1"/>
          <p:nvPr/>
        </p:nvSpPr>
        <p:spPr>
          <a:xfrm>
            <a:off x="4663440" y="914400"/>
            <a:ext cx="2057400" cy="365760"/>
          </a:xfrm>
          <a:prstGeom prst="rect">
            <a:avLst/>
          </a:prstGeom>
          <a:noFill/>
          <a:ln/>
        </p:spPr>
        <p:txBody>
          <a:bodyPr wrap="square" lIns="381" tIns="381" rIns="381" bIns="381"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C. Federated MARL</a:t>
            </a:r>
            <a:endParaRPr lang="en-US" sz="1200" dirty="0"/>
          </a:p>
        </p:txBody>
      </p:sp>
      <p:sp>
        <p:nvSpPr>
          <p:cNvPr id="16" name="Text 13"/>
          <p:cNvSpPr txBox="1"/>
          <p:nvPr/>
        </p:nvSpPr>
        <p:spPr>
          <a:xfrm>
            <a:off x="4754880" y="1280160"/>
            <a:ext cx="1874520" cy="731520"/>
          </a:xfrm>
          <a:prstGeom prst="rect">
            <a:avLst/>
          </a:prstGeom>
          <a:noFill/>
          <a:ln/>
        </p:spPr>
        <p:txBody>
          <a:bodyPr wrap="square" lIns="381" tIns="381" rIns="381" bIns="381" rtlCol="0" anchor="ctr"/>
          <a:lstStyle/>
          <a:p>
            <a:pPr marL="0" indent="0" algn="ctr">
              <a:buNone/>
            </a:pPr>
            <a:r>
              <a:rPr lang="en-US" sz="1050" dirty="0">
                <a:solidFill>
                  <a:srgbClr val="0B1F3A"/>
                </a:solidFill>
                <a:latin typeface="Calibri" pitchFamily="34" charset="0"/>
                <a:ea typeface="Calibri" pitchFamily="34" charset="-122"/>
                <a:cs typeface="Calibri" pitchFamily="34" charset="-120"/>
              </a:rPr>
              <a:t>Local training; FedAvg builds a global model</a:t>
            </a:r>
            <a:endParaRPr lang="en-US" sz="1050" dirty="0"/>
          </a:p>
        </p:txBody>
      </p:sp>
      <p:sp>
        <p:nvSpPr>
          <p:cNvPr id="17" name="Text 14"/>
          <p:cNvSpPr txBox="1"/>
          <p:nvPr/>
        </p:nvSpPr>
        <p:spPr>
          <a:xfrm>
            <a:off x="4754880" y="2103120"/>
            <a:ext cx="1874520" cy="274320"/>
          </a:xfrm>
          <a:prstGeom prst="rect">
            <a:avLst/>
          </a:prstGeom>
          <a:noFill/>
          <a:ln/>
        </p:spPr>
        <p:txBody>
          <a:bodyPr wrap="square" lIns="381" tIns="381" rIns="381" bIns="381" rtlCol="0" anchor="ctr"/>
          <a:lstStyle/>
          <a:p>
            <a:pPr marL="0" indent="0" algn="ctr">
              <a:buNone/>
            </a:pPr>
            <a:r>
              <a:rPr lang="en-US" sz="850" i="1" dirty="0">
                <a:solidFill>
                  <a:srgbClr val="5A6B7F"/>
                </a:solidFill>
                <a:latin typeface="Calibri" pitchFamily="34" charset="0"/>
                <a:ea typeface="Calibri" pitchFamily="34" charset="-122"/>
                <a:cs typeface="Calibri" pitchFamily="34" charset="-120"/>
              </a:rPr>
              <a:t>federated_marl_global.pt</a:t>
            </a:r>
            <a:endParaRPr lang="en-US" sz="850" dirty="0"/>
          </a:p>
        </p:txBody>
      </p:sp>
      <p:sp>
        <p:nvSpPr>
          <p:cNvPr id="18" name="Shape 15"/>
          <p:cNvSpPr/>
          <p:nvPr/>
        </p:nvSpPr>
        <p:spPr>
          <a:xfrm>
            <a:off x="6858000" y="868680"/>
            <a:ext cx="2057400" cy="1600200"/>
          </a:xfrm>
          <a:prstGeom prst="rect">
            <a:avLst/>
          </a:prstGeom>
          <a:solidFill>
            <a:srgbClr val="EAF3FB"/>
          </a:solidFill>
          <a:ln w="12700">
            <a:solidFill>
              <a:srgbClr val="1565C0"/>
            </a:solidFill>
            <a:prstDash val="solid"/>
          </a:ln>
        </p:spPr>
      </p:sp>
      <p:sp>
        <p:nvSpPr>
          <p:cNvPr id="19" name="Text 16"/>
          <p:cNvSpPr txBox="1"/>
          <p:nvPr/>
        </p:nvSpPr>
        <p:spPr>
          <a:xfrm>
            <a:off x="6858000" y="914400"/>
            <a:ext cx="2057400" cy="365760"/>
          </a:xfrm>
          <a:prstGeom prst="rect">
            <a:avLst/>
          </a:prstGeom>
          <a:noFill/>
          <a:ln/>
        </p:spPr>
        <p:txBody>
          <a:bodyPr wrap="square" lIns="381" tIns="381" rIns="381" bIns="381"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D. DP-FedMARL</a:t>
            </a:r>
            <a:endParaRPr lang="en-US" sz="1200" dirty="0"/>
          </a:p>
        </p:txBody>
      </p:sp>
      <p:sp>
        <p:nvSpPr>
          <p:cNvPr id="20" name="Text 17"/>
          <p:cNvSpPr txBox="1"/>
          <p:nvPr/>
        </p:nvSpPr>
        <p:spPr>
          <a:xfrm>
            <a:off x="6949440" y="1280160"/>
            <a:ext cx="1874520" cy="731520"/>
          </a:xfrm>
          <a:prstGeom prst="rect">
            <a:avLst/>
          </a:prstGeom>
          <a:noFill/>
          <a:ln/>
        </p:spPr>
        <p:txBody>
          <a:bodyPr wrap="square" lIns="381" tIns="381" rIns="381" bIns="381" rtlCol="0" anchor="ctr"/>
          <a:lstStyle/>
          <a:p>
            <a:pPr marL="0" indent="0" algn="ctr">
              <a:buNone/>
            </a:pPr>
            <a:r>
              <a:rPr lang="en-US" sz="1050" dirty="0">
                <a:solidFill>
                  <a:srgbClr val="0B1F3A"/>
                </a:solidFill>
                <a:latin typeface="Calibri" pitchFamily="34" charset="0"/>
                <a:ea typeface="Calibri" pitchFamily="34" charset="-122"/>
                <a:cs typeface="Calibri" pitchFamily="34" charset="-120"/>
              </a:rPr>
              <a:t>Federated training plus clipping/noise (if confirmed in code)</a:t>
            </a:r>
            <a:endParaRPr lang="en-US" sz="1050" dirty="0"/>
          </a:p>
        </p:txBody>
      </p:sp>
      <p:sp>
        <p:nvSpPr>
          <p:cNvPr id="21" name="Text 18"/>
          <p:cNvSpPr txBox="1"/>
          <p:nvPr/>
        </p:nvSpPr>
        <p:spPr>
          <a:xfrm>
            <a:off x="6949440" y="2103120"/>
            <a:ext cx="1874520" cy="274320"/>
          </a:xfrm>
          <a:prstGeom prst="rect">
            <a:avLst/>
          </a:prstGeom>
          <a:noFill/>
          <a:ln/>
        </p:spPr>
        <p:txBody>
          <a:bodyPr wrap="square" lIns="381" tIns="381" rIns="381" bIns="381" rtlCol="0" anchor="ctr"/>
          <a:lstStyle/>
          <a:p>
            <a:pPr marL="0" indent="0" algn="ctr">
              <a:buNone/>
            </a:pPr>
            <a:r>
              <a:rPr lang="en-US" sz="850" i="1" dirty="0">
                <a:solidFill>
                  <a:srgbClr val="5A6B7F"/>
                </a:solidFill>
                <a:latin typeface="Calibri" pitchFamily="34" charset="0"/>
                <a:ea typeface="Calibri" pitchFamily="34" charset="-122"/>
                <a:cs typeface="Calibri" pitchFamily="34" charset="-120"/>
              </a:rPr>
              <a:t>dp_federated_marl_global.pt</a:t>
            </a:r>
            <a:endParaRPr lang="en-US" sz="850" dirty="0"/>
          </a:p>
        </p:txBody>
      </p:sp>
      <p:sp>
        <p:nvSpPr>
          <p:cNvPr id="22" name="Text 19"/>
          <p:cNvSpPr txBox="1"/>
          <p:nvPr/>
        </p:nvSpPr>
        <p:spPr>
          <a:xfrm>
            <a:off x="274320" y="2606040"/>
            <a:ext cx="8595360" cy="548640"/>
          </a:xfrm>
          <a:prstGeom prst="rect">
            <a:avLst/>
          </a:prstGeom>
          <a:noFill/>
          <a:ln/>
        </p:spPr>
        <p:txBody>
          <a:bodyPr wrap="square" lIns="381" tIns="381" rIns="381" bIns="381"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Cycle: </a:t>
            </a:r>
            <a:r>
              <a:rPr lang="en-US" sz="1200" dirty="0">
                <a:solidFill>
                  <a:srgbClr val="0B1F3A"/>
                </a:solidFill>
                <a:latin typeface="Calibri" pitchFamily="34" charset="0"/>
                <a:ea typeface="Calibri" pitchFamily="34" charset="-122"/>
                <a:cs typeface="Calibri" pitchFamily="34" charset="-120"/>
              </a:rPr>
              <a:t>observe state, choose channel (action), receive reward, update local DQN policy, send update, aggregate (FedAvg) over rounds, redistribute global model.</a:t>
            </a:r>
            <a:endParaRPr lang="en-US" sz="1200" dirty="0"/>
          </a:p>
        </p:txBody>
      </p:sp>
      <p:sp>
        <p:nvSpPr>
          <p:cNvPr id="23" name="Shape 20"/>
          <p:cNvSpPr/>
          <p:nvPr/>
        </p:nvSpPr>
        <p:spPr>
          <a:xfrm>
            <a:off x="274320" y="3246120"/>
            <a:ext cx="8595360" cy="914400"/>
          </a:xfrm>
          <a:prstGeom prst="roundRect">
            <a:avLst>
              <a:gd name="adj" fmla="val 6000"/>
            </a:avLst>
          </a:prstGeom>
          <a:solidFill>
            <a:srgbClr val="0B1F3A"/>
          </a:solidFill>
          <a:ln w="12700">
            <a:solidFill>
              <a:srgbClr val="0B1F3A"/>
            </a:solidFill>
            <a:prstDash val="solid"/>
          </a:ln>
        </p:spPr>
      </p:sp>
      <p:sp>
        <p:nvSpPr>
          <p:cNvPr id="24" name="Text 21"/>
          <p:cNvSpPr txBox="1"/>
          <p:nvPr/>
        </p:nvSpPr>
        <p:spPr>
          <a:xfrm>
            <a:off x="274320" y="3246120"/>
            <a:ext cx="8595360" cy="914400"/>
          </a:xfrm>
          <a:prstGeom prst="rect">
            <a:avLst/>
          </a:prstGeom>
          <a:noFill/>
          <a:ln/>
        </p:spPr>
        <p:txBody>
          <a:bodyPr wrap="square" lIns="762" tIns="762" rIns="762" bIns="762"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DQN = reinforcement-learning algorithm  |  MARL = multi-agent setup  |  FedAvg = aggregation algorithm  |  Differential privacy = privacy mechanism (guarantee not claimed without a verified accountant)</a:t>
            </a:r>
            <a:endParaRPr lang="en-US" sz="1100" dirty="0"/>
          </a:p>
        </p:txBody>
      </p:sp>
      <p:sp>
        <p:nvSpPr>
          <p:cNvPr id="25" name="Text 22"/>
          <p:cNvSpPr txBox="1"/>
          <p:nvPr/>
        </p:nvSpPr>
        <p:spPr>
          <a:xfrm>
            <a:off x="274320" y="4297680"/>
            <a:ext cx="8595360" cy="365760"/>
          </a:xfrm>
          <a:prstGeom prst="rect">
            <a:avLst/>
          </a:prstGeom>
          <a:noFill/>
          <a:ln/>
        </p:spPr>
        <p:txBody>
          <a:bodyPr wrap="square" lIns="381" tIns="381" rIns="381" bIns="381" rtlCol="0" anchor="ctr"/>
          <a:lstStyle/>
          <a:p>
            <a:pPr marL="0" indent="0">
              <a:buNone/>
            </a:pPr>
            <a:r>
              <a:rPr lang="en-US" sz="900" dirty="0">
                <a:solidFill>
                  <a:srgbClr val="5A6B7F"/>
                </a:solidFill>
                <a:latin typeface="Calibri" pitchFamily="34" charset="0"/>
                <a:ea typeface="Calibri" pitchFamily="34" charset="-122"/>
                <a:cs typeface="Calibri" pitchFamily="34" charset="-120"/>
              </a:rPr>
              <a:t>Refs: Mnih et al., Nature 2015 (DQN); McMahan et al., AISTATS 2017 (FedAvg); Dwork &amp; Roth, 2014 (DP). Checkpoint names are as reported; no fifth model is claimed.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Wireless Metrics and Evaluation Setup</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7 / 10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868680"/>
          <a:ext cx="5394960" cy="3352800"/>
        </p:xfrm>
        <a:graphic>
          <a:graphicData uri="http://schemas.openxmlformats.org/drawingml/2006/table">
            <a:tbl>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rPr>
                        <a:t>Metric</a:t>
                      </a:r>
                      <a:endParaRPr lang="en-US" sz="12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tc>
                  <a:txBody>
                    <a:bodyPr/>
                    <a:lstStyle/>
                    <a:p>
                      <a:pPr marL="0" indent="0">
                        <a:buNone/>
                      </a:pPr>
                      <a:r>
                        <a:rPr lang="en-US" sz="1200" b="1" dirty="0">
                          <a:solidFill>
                            <a:srgbClr val="FFFFFF"/>
                          </a:solidFill>
                        </a:rPr>
                        <a:t>Nature (confirm in code)</a:t>
                      </a:r>
                      <a:endParaRPr lang="en-US" sz="12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365760">
                <a:tc>
                  <a:txBody>
                    <a:bodyPr/>
                    <a:lstStyle/>
                    <a:p>
                      <a:pPr marL="0" indent="0">
                        <a:buNone/>
                      </a:pPr>
                      <a:r>
                        <a:rPr lang="en-US" sz="1000" dirty="0">
                          <a:solidFill>
                            <a:srgbClr val="0B1F3A"/>
                          </a:solidFill>
                        </a:rPr>
                        <a:t>Throughput, demand-satisfied throughput (kbps)</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000" dirty="0">
                          <a:solidFill>
                            <a:srgbClr val="0B1F3A"/>
                          </a:solidFill>
                        </a:rPr>
                        <a:t>Simulated, Shannon-based from SINR</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00" dirty="0">
                          <a:solidFill>
                            <a:srgbClr val="0B1F3A"/>
                          </a:solidFill>
                        </a:rPr>
                        <a:t>Instantaneous / decoupled goodput (kbps)</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tc>
                  <a:txBody>
                    <a:bodyPr/>
                    <a:lstStyle/>
                    <a:p>
                      <a:pPr marL="0" indent="0">
                        <a:buNone/>
                      </a:pPr>
                      <a:r>
                        <a:rPr lang="en-US" sz="1000" dirty="0">
                          <a:solidFill>
                            <a:srgbClr val="0B1F3A"/>
                          </a:solidFill>
                        </a:rPr>
                        <a:t>Derived; decoupled is an approximation</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extLst>
                  <a:ext uri="{0D108BD9-81ED-4DB2-BD59-A6C34878D82A}">
                    <a16:rowId xmlns:a16="http://schemas.microsoft.com/office/drawing/2014/main" val="10002"/>
                  </a:ext>
                </a:extLst>
              </a:tr>
              <a:tr h="365760">
                <a:tc>
                  <a:txBody>
                    <a:bodyPr/>
                    <a:lstStyle/>
                    <a:p>
                      <a:pPr marL="0" indent="0">
                        <a:buNone/>
                      </a:pPr>
                      <a:r>
                        <a:rPr lang="en-US" sz="1000" dirty="0">
                          <a:solidFill>
                            <a:srgbClr val="0B1F3A"/>
                          </a:solidFill>
                        </a:rPr>
                        <a:t>Spectral efficiency (bits/s/Hz)</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000" dirty="0">
                          <a:solidFill>
                            <a:srgbClr val="0B1F3A"/>
                          </a:solidFill>
                        </a:rPr>
                        <a:t>Derived from rate and bandwidth</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00" dirty="0">
                          <a:solidFill>
                            <a:srgbClr val="0B1F3A"/>
                          </a:solidFill>
                        </a:rPr>
                        <a:t>Latency (ms), SINR (dB)</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tc>
                  <a:txBody>
                    <a:bodyPr/>
                    <a:lstStyle/>
                    <a:p>
                      <a:pPr marL="0" indent="0">
                        <a:buNone/>
                      </a:pPr>
                      <a:r>
                        <a:rPr lang="en-US" sz="1000" dirty="0">
                          <a:solidFill>
                            <a:srgbClr val="0B1F3A"/>
                          </a:solidFill>
                        </a:rPr>
                        <a:t>Simulated / dataset-informed</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extLst>
                  <a:ext uri="{0D108BD9-81ED-4DB2-BD59-A6C34878D82A}">
                    <a16:rowId xmlns:a16="http://schemas.microsoft.com/office/drawing/2014/main" val="10004"/>
                  </a:ext>
                </a:extLst>
              </a:tr>
              <a:tr h="365760">
                <a:tc>
                  <a:txBody>
                    <a:bodyPr/>
                    <a:lstStyle/>
                    <a:p>
                      <a:pPr marL="0" indent="0">
                        <a:buNone/>
                      </a:pPr>
                      <a:r>
                        <a:rPr lang="en-US" sz="1000" dirty="0">
                          <a:solidFill>
                            <a:srgbClr val="0B1F3A"/>
                          </a:solidFill>
                        </a:rPr>
                        <a:t>BER (QPSK), PER, PDR</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000" dirty="0">
                          <a:solidFill>
                            <a:srgbClr val="0B1F3A"/>
                          </a:solidFill>
                        </a:rPr>
                        <a:t>Model-derived estimates, not measured</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000" dirty="0">
                          <a:solidFill>
                            <a:srgbClr val="0B1F3A"/>
                          </a:solidFill>
                        </a:rPr>
                        <a:t>Collision rate, resource utilization</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tc>
                  <a:txBody>
                    <a:bodyPr/>
                    <a:lstStyle/>
                    <a:p>
                      <a:pPr marL="0" indent="0">
                        <a:buNone/>
                      </a:pPr>
                      <a:r>
                        <a:rPr lang="en-US" sz="1000" dirty="0">
                          <a:solidFill>
                            <a:srgbClr val="0B1F3A"/>
                          </a:solidFill>
                        </a:rPr>
                        <a:t>Simulated from channel choices</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extLst>
                  <a:ext uri="{0D108BD9-81ED-4DB2-BD59-A6C34878D82A}">
                    <a16:rowId xmlns:a16="http://schemas.microsoft.com/office/drawing/2014/main" val="10006"/>
                  </a:ext>
                </a:extLst>
              </a:tr>
              <a:tr h="365760">
                <a:tc>
                  <a:txBody>
                    <a:bodyPr/>
                    <a:lstStyle/>
                    <a:p>
                      <a:pPr marL="0" indent="0">
                        <a:buNone/>
                      </a:pPr>
                      <a:r>
                        <a:rPr lang="en-US" sz="1000" dirty="0">
                          <a:solidFill>
                            <a:srgbClr val="0B1F3A"/>
                          </a:solidFill>
                        </a:rPr>
                        <a:t>Jain's fairness index</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tc>
                  <a:txBody>
                    <a:bodyPr/>
                    <a:lstStyle/>
                    <a:p>
                      <a:pPr marL="0" indent="0">
                        <a:buNone/>
                      </a:pPr>
                      <a:r>
                        <a:rPr lang="en-US" sz="1000" dirty="0">
                          <a:solidFill>
                            <a:srgbClr val="0B1F3A"/>
                          </a:solidFill>
                        </a:rPr>
                        <a:t>Derived (Jain et al., 1984)</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000" dirty="0">
                          <a:solidFill>
                            <a:srgbClr val="0B1F3A"/>
                          </a:solidFill>
                        </a:rPr>
                        <a:t>Ergodic capacity</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tc>
                  <a:txBody>
                    <a:bodyPr/>
                    <a:lstStyle/>
                    <a:p>
                      <a:pPr marL="0" indent="0">
                        <a:buNone/>
                      </a:pPr>
                      <a:r>
                        <a:rPr lang="en-US" sz="1000" dirty="0">
                          <a:solidFill>
                            <a:srgbClr val="0B1F3A"/>
                          </a:solidFill>
                        </a:rPr>
                        <a:t>Same Shannon basis as throughput: not independent</a:t>
                      </a:r>
                      <a:endParaRPr lang="en-US" sz="10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EAF3FB"/>
                    </a:solidFill>
                  </a:tcPr>
                </a:tc>
                <a:extLst>
                  <a:ext uri="{0D108BD9-81ED-4DB2-BD59-A6C34878D82A}">
                    <a16:rowId xmlns:a16="http://schemas.microsoft.com/office/drawing/2014/main" val="10008"/>
                  </a:ext>
                </a:extLst>
              </a:tr>
            </a:tbl>
          </a:graphicData>
        </a:graphic>
      </p:graphicFrame>
      <p:sp>
        <p:nvSpPr>
          <p:cNvPr id="7" name="Shape 3"/>
          <p:cNvSpPr/>
          <p:nvPr/>
        </p:nvSpPr>
        <p:spPr>
          <a:xfrm>
            <a:off x="5852160" y="868680"/>
            <a:ext cx="3017520" cy="1371600"/>
          </a:xfrm>
          <a:prstGeom prst="roundRect">
            <a:avLst>
              <a:gd name="adj" fmla="val 4000"/>
            </a:avLst>
          </a:prstGeom>
          <a:solidFill>
            <a:srgbClr val="FFF4E0"/>
          </a:solidFill>
          <a:ln w="12700">
            <a:solidFill>
              <a:srgbClr val="F9A825"/>
            </a:solidFill>
            <a:prstDash val="solid"/>
          </a:ln>
        </p:spPr>
      </p:sp>
      <p:sp>
        <p:nvSpPr>
          <p:cNvPr id="5" name="Text 4"/>
          <p:cNvSpPr txBox="1"/>
          <p:nvPr/>
        </p:nvSpPr>
        <p:spPr>
          <a:xfrm>
            <a:off x="5852160" y="868680"/>
            <a:ext cx="3017520" cy="1371600"/>
          </a:xfrm>
          <a:prstGeom prst="rect">
            <a:avLst/>
          </a:prstGeom>
          <a:noFill/>
          <a:ln/>
        </p:spPr>
        <p:txBody>
          <a:bodyPr wrap="square" lIns="762" tIns="762" rIns="762" bIns="762" rtlCol="0" anchor="ctr"/>
          <a:lstStyle/>
          <a:p>
            <a:pPr marL="0" indent="0" algn="l">
              <a:buNone/>
            </a:pPr>
            <a:r>
              <a:rPr lang="en-US" sz="1100" dirty="0">
                <a:solidFill>
                  <a:srgbClr val="0B1F3A"/>
                </a:solidFill>
                <a:latin typeface="Calibri" pitchFamily="34" charset="0"/>
                <a:ea typeface="Calibri" pitchFamily="34" charset="-122"/>
                <a:cs typeface="Calibri" pitchFamily="34" charset="-120"/>
              </a:rPr>
              <a:t>Not evaluated: EVM, because raw I/Q measurements are unavailable. Accuracy, F1 and R² are not used as performance measures.</a:t>
            </a:r>
            <a:endParaRPr lang="en-US" sz="1100" dirty="0"/>
          </a:p>
        </p:txBody>
      </p:sp>
      <p:sp>
        <p:nvSpPr>
          <p:cNvPr id="9" name="Shape 5"/>
          <p:cNvSpPr/>
          <p:nvPr/>
        </p:nvSpPr>
        <p:spPr>
          <a:xfrm>
            <a:off x="5852160" y="2377440"/>
            <a:ext cx="3017520" cy="1737360"/>
          </a:xfrm>
          <a:prstGeom prst="roundRect">
            <a:avLst>
              <a:gd name="adj" fmla="val 3158"/>
            </a:avLst>
          </a:prstGeom>
          <a:solidFill>
            <a:srgbClr val="EAF3FB"/>
          </a:solidFill>
          <a:ln w="12700">
            <a:solidFill>
              <a:srgbClr val="1565C0"/>
            </a:solidFill>
            <a:prstDash val="solid"/>
          </a:ln>
        </p:spPr>
      </p:sp>
      <p:sp>
        <p:nvSpPr>
          <p:cNvPr id="10" name="Text 6"/>
          <p:cNvSpPr txBox="1"/>
          <p:nvPr/>
        </p:nvSpPr>
        <p:spPr>
          <a:xfrm>
            <a:off x="5852160" y="2377440"/>
            <a:ext cx="3017520" cy="1737360"/>
          </a:xfrm>
          <a:prstGeom prst="rect">
            <a:avLst/>
          </a:prstGeom>
          <a:noFill/>
          <a:ln/>
        </p:spPr>
        <p:txBody>
          <a:bodyPr wrap="square" lIns="762" tIns="762" rIns="762" bIns="762" rtlCol="0" anchor="ctr"/>
          <a:lstStyle/>
          <a:p>
            <a:pPr marL="0" indent="0" algn="l">
              <a:buNone/>
            </a:pPr>
            <a:r>
              <a:rPr lang="en-US" sz="1100" dirty="0">
                <a:solidFill>
                  <a:srgbClr val="0B1F3A"/>
                </a:solidFill>
                <a:latin typeface="Calibri" pitchFamily="34" charset="0"/>
                <a:ea typeface="Calibri" pitchFamily="34" charset="-122"/>
                <a:cs typeface="Calibri" pitchFamily="34" charset="-120"/>
              </a:rPr>
              <a:t>Episodes, seeds, held-out split, training settings, privacy accounting (epsilon, delta), communication overhead: not verified, project files not supplied. Fill from experiment_configuration.csv and privacy_accounting.csv.</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Wireless Performance Comparison (reported, not independently verified)</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8 / 10</a:t>
            </a:r>
            <a:endParaRPr lang="en-US" sz="900" dirty="0"/>
          </a:p>
        </p:txBody>
      </p:sp>
      <p:graphicFrame>
        <p:nvGraphicFramePr>
          <p:cNvPr id="6" name="Chart 0"/>
          <p:cNvGraphicFramePr/>
          <p:nvPr>
            <p:extLst>
              <p:ext uri="{D42A27DB-BD31-4B8C-83A1-F6EECF244321}">
                <p14:modId xmlns:p14="http://schemas.microsoft.com/office/powerpoint/2010/main" val="2391344455"/>
              </p:ext>
            </p:extLst>
          </p:nvPr>
        </p:nvGraphicFramePr>
        <p:xfrm>
          <a:off x="182880" y="731520"/>
          <a:ext cx="4572000" cy="1828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284291908"/>
              </p:ext>
            </p:extLst>
          </p:nvPr>
        </p:nvGraphicFramePr>
        <p:xfrm>
          <a:off x="4846320" y="731520"/>
          <a:ext cx="2011680" cy="18288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nvGraphicFramePr>
        <p:xfrm>
          <a:off x="6949440" y="731520"/>
          <a:ext cx="2011680" cy="18288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3"/>
          <p:cNvGraphicFramePr/>
          <p:nvPr/>
        </p:nvGraphicFramePr>
        <p:xfrm>
          <a:off x="182880" y="2606040"/>
          <a:ext cx="3291840" cy="1600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11880" y="2697480"/>
          <a:ext cx="5303520" cy="1371600"/>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FFFFFF"/>
                          </a:solidFill>
                        </a:rPr>
                        <a:t>Model</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rPr>
                        <a:t>Fairness (Jain)</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rPr>
                        <a:t>Utilization %</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tc>
                  <a:txBody>
                    <a:bodyPr/>
                    <a:lstStyle/>
                    <a:p>
                      <a:pPr marL="0" indent="0">
                        <a:buNone/>
                      </a:pPr>
                      <a:r>
                        <a:rPr lang="en-US" sz="900" b="1" dirty="0">
                          <a:solidFill>
                            <a:srgbClr val="FFFFFF"/>
                          </a:solidFill>
                        </a:rPr>
                        <a:t>BER (QPSK)</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0B1F3A"/>
                          </a:solidFill>
                        </a:rPr>
                        <a:t>Central DQN</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0.366</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52.0</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0.284</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00" dirty="0">
                          <a:solidFill>
                            <a:srgbClr val="0B1F3A"/>
                          </a:solidFill>
                        </a:rPr>
                        <a:t>Indep. MARL</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0.374</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56.8</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0.266</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00" dirty="0">
                          <a:solidFill>
                            <a:srgbClr val="0B1F3A"/>
                          </a:solidFill>
                        </a:rPr>
                        <a:t>FedMARL</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0.371</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53.8</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0.277</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00" dirty="0">
                          <a:solidFill>
                            <a:srgbClr val="0B1F3A"/>
                          </a:solidFill>
                        </a:rPr>
                        <a:t>DP-FedMARL</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0.363</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55.6</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tc>
                  <a:txBody>
                    <a:bodyPr/>
                    <a:lstStyle/>
                    <a:p>
                      <a:pPr marL="0" indent="0">
                        <a:buNone/>
                      </a:pPr>
                      <a:r>
                        <a:rPr lang="en-US" sz="900" dirty="0">
                          <a:solidFill>
                            <a:srgbClr val="0B1F3A"/>
                          </a:solidFill>
                        </a:rPr>
                        <a:t>0.278</a:t>
                      </a:r>
                      <a:endParaRPr lang="en-US" sz="900" dirty="0"/>
                    </a:p>
                  </a:txBody>
                  <a:tcPr>
                    <a:lnL w="6350" cap="flat" cmpd="sng" algn="ctr">
                      <a:solidFill>
                        <a:srgbClr val="C9D6E3"/>
                      </a:solidFill>
                      <a:prstDash val="solid"/>
                      <a:round/>
                      <a:headEnd type="none" w="med" len="med"/>
                      <a:tailEnd type="none" w="med" len="med"/>
                    </a:lnL>
                    <a:lnR w="6350" cap="flat" cmpd="sng" algn="ctr">
                      <a:solidFill>
                        <a:srgbClr val="C9D6E3"/>
                      </a:solidFill>
                      <a:prstDash val="solid"/>
                      <a:round/>
                      <a:headEnd type="none" w="med" len="med"/>
                      <a:tailEnd type="none" w="med" len="med"/>
                    </a:lnR>
                    <a:lnT w="6350" cap="flat" cmpd="sng" algn="ctr">
                      <a:solidFill>
                        <a:srgbClr val="C9D6E3"/>
                      </a:solidFill>
                      <a:prstDash val="solid"/>
                      <a:round/>
                      <a:headEnd type="none" w="med" len="med"/>
                      <a:tailEnd type="none" w="med" len="med"/>
                    </a:lnT>
                    <a:lnB w="6350" cap="flat" cmpd="sng" algn="ctr">
                      <a:solidFill>
                        <a:srgbClr val="C9D6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3"/>
          <p:cNvSpPr txBox="1"/>
          <p:nvPr/>
        </p:nvSpPr>
        <p:spPr>
          <a:xfrm>
            <a:off x="182880" y="4297680"/>
            <a:ext cx="8778240" cy="502920"/>
          </a:xfrm>
          <a:prstGeom prst="rect">
            <a:avLst/>
          </a:prstGeom>
          <a:noFill/>
          <a:ln/>
        </p:spPr>
        <p:txBody>
          <a:bodyPr wrap="square" lIns="381" tIns="381" rIns="381" bIns="381" rtlCol="0" anchor="ctr"/>
          <a:lstStyle/>
          <a:p>
            <a:pPr marL="0" indent="0">
              <a:buNone/>
            </a:pPr>
            <a:r>
              <a:rPr lang="en-US" sz="900" b="1" dirty="0">
                <a:solidFill>
                  <a:srgbClr val="C62828"/>
                </a:solidFill>
                <a:latin typeface="Calibri" pitchFamily="34" charset="0"/>
                <a:ea typeface="Calibri" pitchFamily="34" charset="-122"/>
                <a:cs typeface="Calibri" pitchFamily="34" charset="-120"/>
              </a:rPr>
              <a:t>BER is a theoretical model estimate. Reported values; source CSV/code not supplied, so NOT independently verified.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2FDB90-A431-ABF3-BCD4-30086FB67150}"/>
              </a:ext>
            </a:extLst>
          </p:cNvPr>
          <p:cNvPicPr>
            <a:picLocks noChangeAspect="1"/>
          </p:cNvPicPr>
          <p:nvPr/>
        </p:nvPicPr>
        <p:blipFill>
          <a:blip r:embed="rId2"/>
          <a:stretch>
            <a:fillRect/>
          </a:stretch>
        </p:blipFill>
        <p:spPr>
          <a:xfrm>
            <a:off x="571500" y="0"/>
            <a:ext cx="8001000" cy="5143500"/>
          </a:xfrm>
          <a:prstGeom prst="rect">
            <a:avLst/>
          </a:prstGeom>
        </p:spPr>
      </p:pic>
    </p:spTree>
    <p:extLst>
      <p:ext uri="{BB962C8B-B14F-4D97-AF65-F5344CB8AC3E}">
        <p14:creationId xmlns:p14="http://schemas.microsoft.com/office/powerpoint/2010/main" val="3385524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20680E-B9C9-DB72-EA34-7C2D72FC3D41}"/>
              </a:ext>
            </a:extLst>
          </p:cNvPr>
          <p:cNvPicPr>
            <a:picLocks noChangeAspect="1"/>
          </p:cNvPicPr>
          <p:nvPr/>
        </p:nvPicPr>
        <p:blipFill>
          <a:blip r:embed="rId2"/>
          <a:stretch>
            <a:fillRect/>
          </a:stretch>
        </p:blipFill>
        <p:spPr>
          <a:xfrm>
            <a:off x="914392" y="285745"/>
            <a:ext cx="7315215" cy="4572009"/>
          </a:xfrm>
          <a:prstGeom prst="rect">
            <a:avLst/>
          </a:prstGeom>
        </p:spPr>
      </p:pic>
    </p:spTree>
    <p:extLst>
      <p:ext uri="{BB962C8B-B14F-4D97-AF65-F5344CB8AC3E}">
        <p14:creationId xmlns:p14="http://schemas.microsoft.com/office/powerpoint/2010/main" val="314646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B8A9DF-5852-D2CB-F0DC-53346A9335EF}"/>
              </a:ext>
            </a:extLst>
          </p:cNvPr>
          <p:cNvPicPr>
            <a:picLocks noChangeAspect="1"/>
          </p:cNvPicPr>
          <p:nvPr/>
        </p:nvPicPr>
        <p:blipFill>
          <a:blip r:embed="rId2"/>
          <a:stretch>
            <a:fillRect/>
          </a:stretch>
        </p:blipFill>
        <p:spPr>
          <a:xfrm>
            <a:off x="0" y="57150"/>
            <a:ext cx="9144000" cy="5029200"/>
          </a:xfrm>
          <a:prstGeom prst="rect">
            <a:avLst/>
          </a:prstGeom>
        </p:spPr>
      </p:pic>
    </p:spTree>
    <p:extLst>
      <p:ext uri="{BB962C8B-B14F-4D97-AF65-F5344CB8AC3E}">
        <p14:creationId xmlns:p14="http://schemas.microsoft.com/office/powerpoint/2010/main" val="3349857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3A"/>
          </a:solidFill>
          <a:ln w="12700">
            <a:solidFill>
              <a:srgbClr val="0B1F3A"/>
            </a:solidFill>
            <a:prstDash val="solid"/>
          </a:ln>
        </p:spPr>
      </p:sp>
      <p:sp>
        <p:nvSpPr>
          <p:cNvPr id="3" name="Text 1"/>
          <p:cNvSpPr txBox="1"/>
          <p:nvPr/>
        </p:nvSpPr>
        <p:spPr>
          <a:xfrm>
            <a:off x="320040" y="73152"/>
            <a:ext cx="8503920" cy="548640"/>
          </a:xfrm>
          <a:prstGeom prst="rect">
            <a:avLst/>
          </a:prstGeom>
          <a:noFill/>
          <a:ln/>
        </p:spPr>
        <p:txBody>
          <a:bodyPr wrap="square" lIns="381" tIns="381" rIns="381" bIns="381"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Discussion, Privacy, Limitations and Applications</a:t>
            </a:r>
            <a:endParaRPr lang="en-US" sz="2200" dirty="0"/>
          </a:p>
        </p:txBody>
      </p:sp>
      <p:sp>
        <p:nvSpPr>
          <p:cNvPr id="4" name="Text 2"/>
          <p:cNvSpPr txBox="1"/>
          <p:nvPr/>
        </p:nvSpPr>
        <p:spPr>
          <a:xfrm>
            <a:off x="5943600" y="4846320"/>
            <a:ext cx="3017520" cy="228600"/>
          </a:xfrm>
          <a:prstGeom prst="rect">
            <a:avLst/>
          </a:prstGeom>
          <a:noFill/>
          <a:ln/>
        </p:spPr>
        <p:txBody>
          <a:bodyPr wrap="square" lIns="381" tIns="381" rIns="381" bIns="381" rtlCol="0" anchor="ctr"/>
          <a:lstStyle/>
          <a:p>
            <a:pPr marL="0" indent="0" algn="r">
              <a:buNone/>
            </a:pPr>
            <a:r>
              <a:rPr lang="en-US" sz="900" dirty="0">
                <a:solidFill>
                  <a:srgbClr val="5A6B7F"/>
                </a:solidFill>
                <a:latin typeface="Calibri" pitchFamily="34" charset="0"/>
                <a:ea typeface="Calibri" pitchFamily="34" charset="-122"/>
                <a:cs typeface="Calibri" pitchFamily="34" charset="-120"/>
              </a:rPr>
              <a:t>Python simulation study  |  9 / 10</a:t>
            </a:r>
            <a:endParaRPr lang="en-US" sz="900" dirty="0"/>
          </a:p>
        </p:txBody>
      </p:sp>
      <p:sp>
        <p:nvSpPr>
          <p:cNvPr id="6" name="Text 3"/>
          <p:cNvSpPr txBox="1"/>
          <p:nvPr/>
        </p:nvSpPr>
        <p:spPr>
          <a:xfrm>
            <a:off x="320040" y="822960"/>
            <a:ext cx="4114800" cy="274320"/>
          </a:xfrm>
          <a:prstGeom prst="rect">
            <a:avLst/>
          </a:prstGeom>
          <a:noFill/>
          <a:ln/>
        </p:spPr>
        <p:txBody>
          <a:bodyPr wrap="square" lIns="381" tIns="381" rIns="381" bIns="381"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Observations (reported values)</a:t>
            </a:r>
            <a:endParaRPr lang="en-US" sz="1300" dirty="0"/>
          </a:p>
        </p:txBody>
      </p:sp>
      <p:sp>
        <p:nvSpPr>
          <p:cNvPr id="7" name="Text 4"/>
          <p:cNvSpPr txBox="1"/>
          <p:nvPr/>
        </p:nvSpPr>
        <p:spPr>
          <a:xfrm>
            <a:off x="320040" y="1143000"/>
            <a:ext cx="4114800" cy="2286000"/>
          </a:xfrm>
          <a:prstGeom prst="rect">
            <a:avLst/>
          </a:prstGeom>
          <a:noFill/>
          <a:ln/>
        </p:spPr>
        <p:txBody>
          <a:bodyPr wrap="square" lIns="381" tIns="381" rIns="381" bIns="381" rtlCol="0" anchor="t"/>
          <a:lstStyle/>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Independent MARL: highest throughput and spectral efficiency, lowest latency</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FedMARL: highest demand-satisfied throughput (1525 kbps)</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DP-FedMARL vs FedMARL: lower demand-satisfied throughput, SE and PDR; slightly higher Shannon throughput</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Federated communication overhead: not measured here (unverified)</a:t>
            </a:r>
            <a:endParaRPr lang="en-US" sz="1100" dirty="0"/>
          </a:p>
        </p:txBody>
      </p:sp>
      <p:sp>
        <p:nvSpPr>
          <p:cNvPr id="8" name="Text 5"/>
          <p:cNvSpPr txBox="1"/>
          <p:nvPr/>
        </p:nvSpPr>
        <p:spPr>
          <a:xfrm>
            <a:off x="4663440" y="822960"/>
            <a:ext cx="4114800" cy="274320"/>
          </a:xfrm>
          <a:prstGeom prst="rect">
            <a:avLst/>
          </a:prstGeom>
          <a:noFill/>
          <a:ln/>
        </p:spPr>
        <p:txBody>
          <a:bodyPr wrap="square" lIns="381" tIns="381" rIns="381" bIns="381"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Limitations</a:t>
            </a:r>
            <a:endParaRPr lang="en-US" sz="1300" dirty="0"/>
          </a:p>
        </p:txBody>
      </p:sp>
      <p:sp>
        <p:nvSpPr>
          <p:cNvPr id="9" name="Text 6"/>
          <p:cNvSpPr txBox="1"/>
          <p:nvPr/>
        </p:nvSpPr>
        <p:spPr>
          <a:xfrm>
            <a:off x="4663440" y="1143000"/>
            <a:ext cx="4114800" cy="2286000"/>
          </a:xfrm>
          <a:prstGeom prst="rect">
            <a:avLst/>
          </a:prstGeom>
          <a:noFill/>
          <a:ln/>
        </p:spPr>
        <p:txBody>
          <a:bodyPr wrap="square" lIns="381" tIns="381" rIns="381" bIns="381" rtlCol="0" anchor="t"/>
          <a:lstStyle/>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Collision rates near 80% (98.6% centralized) and PDR near 30% need improvement</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Fairness about 0.37 is low</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Simulation only; no hardware; EVM not evaluated (no raw I/Q)</a:t>
            </a:r>
            <a:endParaRPr lang="en-US" sz="1100" dirty="0"/>
          </a:p>
          <a:p>
            <a:pPr marL="342900" indent="-342900">
              <a:spcAft>
                <a:spcPts val="500"/>
              </a:spcAft>
              <a:buSzPct val="100000"/>
              <a:buChar char="•"/>
            </a:pPr>
            <a:r>
              <a:rPr lang="en-US" sz="1100" dirty="0">
                <a:solidFill>
                  <a:srgbClr val="0B1F3A"/>
                </a:solidFill>
                <a:latin typeface="Calibri" pitchFamily="34" charset="0"/>
                <a:ea typeface="Calibri" pitchFamily="34" charset="-122"/>
                <a:cs typeface="Calibri" pitchFamily="34" charset="-120"/>
              </a:rPr>
              <a:t>No formal DP guarantee claimed without verified accounting</a:t>
            </a:r>
            <a:endParaRPr lang="en-US" sz="1100" dirty="0"/>
          </a:p>
        </p:txBody>
      </p:sp>
      <p:sp>
        <p:nvSpPr>
          <p:cNvPr id="10" name="Shape 7"/>
          <p:cNvSpPr/>
          <p:nvPr/>
        </p:nvSpPr>
        <p:spPr>
          <a:xfrm>
            <a:off x="320040" y="3566160"/>
            <a:ext cx="8503920" cy="1005840"/>
          </a:xfrm>
          <a:prstGeom prst="roundRect">
            <a:avLst>
              <a:gd name="adj" fmla="val 5455"/>
            </a:avLst>
          </a:prstGeom>
          <a:solidFill>
            <a:srgbClr val="EAF3FB"/>
          </a:solidFill>
          <a:ln w="12700">
            <a:solidFill>
              <a:srgbClr val="1565C0"/>
            </a:solidFill>
            <a:prstDash val="solid"/>
          </a:ln>
        </p:spPr>
      </p:sp>
      <p:sp>
        <p:nvSpPr>
          <p:cNvPr id="11" name="Text 8"/>
          <p:cNvSpPr txBox="1"/>
          <p:nvPr/>
        </p:nvSpPr>
        <p:spPr>
          <a:xfrm>
            <a:off x="320040" y="3566160"/>
            <a:ext cx="8503920" cy="1005840"/>
          </a:xfrm>
          <a:prstGeom prst="rect">
            <a:avLst/>
          </a:prstGeom>
          <a:noFill/>
          <a:ln/>
        </p:spPr>
        <p:txBody>
          <a:bodyPr wrap="square" lIns="762" tIns="762" rIns="762" bIns="762" rtlCol="0" anchor="ctr"/>
          <a:lstStyle/>
          <a:p>
            <a:pPr marL="0" indent="0" algn="l">
              <a:buNone/>
            </a:pPr>
            <a:r>
              <a:rPr lang="en-US" sz="1200" dirty="0">
                <a:solidFill>
                  <a:srgbClr val="0B1F3A"/>
                </a:solidFill>
                <a:latin typeface="Calibri" pitchFamily="34" charset="0"/>
                <a:ea typeface="Calibri" pitchFamily="34" charset="-122"/>
                <a:cs typeface="Calibri" pitchFamily="34" charset="-120"/>
              </a:rPr>
              <a:t>Possible applications (not demonstrated): Wi-Fi resource management, private IoT networks, smart factories, distributed wireless systems. No approach is claimed universally superior.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3" name="Text 0"/>
          <p:cNvSpPr txBox="1"/>
          <p:nvPr/>
        </p:nvSpPr>
        <p:spPr>
          <a:xfrm>
            <a:off x="457200" y="274320"/>
            <a:ext cx="8229600" cy="548640"/>
          </a:xfrm>
          <a:prstGeom prst="rect">
            <a:avLst/>
          </a:prstGeom>
          <a:noFill/>
          <a:ln/>
        </p:spPr>
        <p:txBody>
          <a:bodyPr wrap="square" lIns="381" tIns="381" rIns="381" bIns="381"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 and Future Work</a:t>
            </a:r>
            <a:endParaRPr lang="en-US" sz="2600" dirty="0"/>
          </a:p>
        </p:txBody>
      </p:sp>
      <p:sp>
        <p:nvSpPr>
          <p:cNvPr id="4" name="Text 1"/>
          <p:cNvSpPr txBox="1"/>
          <p:nvPr/>
        </p:nvSpPr>
        <p:spPr>
          <a:xfrm>
            <a:off x="457200" y="914400"/>
            <a:ext cx="4206240" cy="3291840"/>
          </a:xfrm>
          <a:prstGeom prst="rect">
            <a:avLst/>
          </a:prstGeom>
          <a:noFill/>
          <a:ln/>
        </p:spPr>
        <p:txBody>
          <a:bodyPr wrap="square" lIns="381" tIns="381" rIns="381" bIns="381"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Addressed: privacy-aware distributed wireless resource management</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Implemented: Centralized DQN, Independent MARL, FedMARL (FedAvg), DP-FedMARL, evaluated with wireless metrics in Python simulation</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Reported results show trade-offs, not one winner: independent MARL leads throughput; FedMARL leads demand-satisfied throughput; DP costs some performance</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Not shown: real-hardware performance or formal privacy guarantees</a:t>
            </a:r>
            <a:endParaRPr lang="en-US" sz="1250" dirty="0"/>
          </a:p>
        </p:txBody>
      </p:sp>
      <p:sp>
        <p:nvSpPr>
          <p:cNvPr id="5" name="Shape 2"/>
          <p:cNvSpPr/>
          <p:nvPr/>
        </p:nvSpPr>
        <p:spPr>
          <a:xfrm>
            <a:off x="4937760" y="914400"/>
            <a:ext cx="3840480" cy="2560320"/>
          </a:xfrm>
          <a:prstGeom prst="roundRect">
            <a:avLst>
              <a:gd name="adj" fmla="val 2143"/>
            </a:avLst>
          </a:prstGeom>
          <a:solidFill>
            <a:srgbClr val="12335F"/>
          </a:solidFill>
          <a:ln w="12700">
            <a:solidFill>
              <a:srgbClr val="00B8D9"/>
            </a:solidFill>
            <a:prstDash val="solid"/>
          </a:ln>
        </p:spPr>
      </p:sp>
      <p:sp>
        <p:nvSpPr>
          <p:cNvPr id="6" name="Text 3"/>
          <p:cNvSpPr txBox="1"/>
          <p:nvPr/>
        </p:nvSpPr>
        <p:spPr>
          <a:xfrm>
            <a:off x="4937760" y="914400"/>
            <a:ext cx="3840480" cy="2560320"/>
          </a:xfrm>
          <a:prstGeom prst="rect">
            <a:avLst/>
          </a:prstGeom>
          <a:noFill/>
          <a:ln/>
        </p:spPr>
        <p:txBody>
          <a:bodyPr wrap="square" lIns="762" tIns="762" rIns="762" bIns="762"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Future work</a:t>
            </a:r>
            <a:endParaRPr lang="en-US" sz="1200" dirty="0"/>
          </a:p>
          <a:p>
            <a:pPr marL="0" indent="0" algn="l">
              <a:buNone/>
            </a:pP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Reduce collisions</a:t>
            </a: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Test more network conditions</a:t>
            </a: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Strengthen privacy accounting</a:t>
            </a: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Validate on a real wireless testbed</a:t>
            </a: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Evaluate EVM if raw I/Q becomes available</a:t>
            </a:r>
            <a:endParaRPr lang="en-US" sz="1200" dirty="0"/>
          </a:p>
        </p:txBody>
      </p:sp>
      <p:sp>
        <p:nvSpPr>
          <p:cNvPr id="7" name="Text 4"/>
          <p:cNvSpPr txBox="1"/>
          <p:nvPr/>
        </p:nvSpPr>
        <p:spPr>
          <a:xfrm>
            <a:off x="457200" y="4206240"/>
            <a:ext cx="8229600" cy="548640"/>
          </a:xfrm>
          <a:prstGeom prst="rect">
            <a:avLst/>
          </a:prstGeom>
          <a:noFill/>
          <a:ln/>
        </p:spPr>
        <p:txBody>
          <a:bodyPr wrap="square" lIns="381" tIns="381" rIns="381" bIns="381" rtlCol="0" anchor="ctr"/>
          <a:lstStyle/>
          <a:p>
            <a:pPr marL="0" indent="0" algn="ctr">
              <a:buNone/>
            </a:pPr>
            <a:r>
              <a:rPr lang="en-US" sz="2400" b="1" dirty="0">
                <a:solidFill>
                  <a:srgbClr val="00B8D9"/>
                </a:solidFill>
                <a:latin typeface="Calibri" pitchFamily="34" charset="0"/>
                <a:ea typeface="Calibri" pitchFamily="34" charset="-122"/>
                <a:cs typeface="Calibri" pitchFamily="34" charset="-120"/>
              </a:rPr>
              <a:t>Thank You  |  Questions?</a:t>
            </a:r>
            <a:endParaRPr lang="en-US" sz="2400" dirty="0"/>
          </a:p>
        </p:txBody>
      </p:sp>
    </p:spTree>
  </p:cSld>
  <p:clrMapOvr>
    <a:masterClrMapping/>
  </p:clrMapOvr>
</p:sld>
</file>

<file path=ppt/theme/theme1.xml><?xml version="1.0" encoding="utf-8"?>
<a:theme xmlns:a="http://schemas.openxmlformats.org/drawingml/2006/main" name="FedMARL">
  <a:themeElements>
    <a:clrScheme name="FedMARL">
      <a:dk1>
        <a:srgbClr val="0B1F3A"/>
      </a:dk1>
      <a:lt1>
        <a:srgbClr val="FFFFFF"/>
      </a:lt1>
      <a:dk2>
        <a:srgbClr val="1565C0"/>
      </a:dk2>
      <a:lt2>
        <a:srgbClr val="EAF3FB"/>
      </a:lt2>
      <a:accent1>
        <a:srgbClr val="00B8D9"/>
      </a:accent1>
      <a:accent2>
        <a:srgbClr val="1565C0"/>
      </a:accent2>
      <a:accent3>
        <a:srgbClr val="5A6B7F"/>
      </a:accent3>
      <a:accent4>
        <a:srgbClr val="C62828"/>
      </a:accent4>
      <a:accent5>
        <a:srgbClr val="2E7D32"/>
      </a:accent5>
      <a:accent6>
        <a:srgbClr val="F9A825"/>
      </a:accent6>
      <a:hlink>
        <a:srgbClr val="1565C0"/>
      </a:hlink>
      <a:folHlink>
        <a:srgbClr val="5A6B7F"/>
      </a:folHlink>
    </a:clrScheme>
    <a:fontScheme name="FedMAR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1976</Words>
  <Application>Microsoft Office PowerPoint</Application>
  <PresentationFormat>On-screen Show (16:9)</PresentationFormat>
  <Paragraphs>189</Paragraphs>
  <Slides>13</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FedMARL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Karthik Ram Prasad</cp:lastModifiedBy>
  <cp:revision>2</cp:revision>
  <dcterms:created xsi:type="dcterms:W3CDTF">2026-10-15T02:34:00Z</dcterms:created>
  <dcterms:modified xsi:type="dcterms:W3CDTF">2026-10-15T05:06:26Z</dcterms:modified>
</cp:coreProperties>
</file>